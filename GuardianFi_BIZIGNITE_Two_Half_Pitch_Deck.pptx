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2011680"/>
          </a:xfrm>
          <a:prstGeom prst="rect">
            <a:avLst/>
          </a:prstGeom>
          <a:noFill/>
        </p:spPr>
        <p:txBody>
          <a:bodyPr wrap="square">
            <a:spAutoFit/>
          </a:bodyPr>
          <a:lstStyle/>
          <a:p>
            <a:pPr>
              <a:defRPr sz="2800" b="1">
                <a:solidFill>
                  <a:srgbClr val="FFFFFF"/>
                </a:solidFill>
              </a:defRPr>
            </a:pPr>
            <a:r>
              <a:t>🏆 GuardianFi — The Autonomous Personal CFO</a:t>
            </a:r>
          </a:p>
          <a:p>
            <a:pPr>
              <a:spcBef>
                <a:spcPts val="600"/>
              </a:spcBef>
              <a:defRPr sz="1600" i="1">
                <a:solidFill>
                  <a:srgbClr val="EAB308"/>
                </a:solidFill>
              </a:defRPr>
            </a:pPr>
            <a:r>
              <a:t>"Your Personal CFO. Your Financial Truth. Your Invisible Shield."</a:t>
            </a:r>
          </a:p>
          <a:p>
            <a:pPr>
              <a:spcBef>
                <a:spcPts val="600"/>
              </a:spcBef>
              <a:defRPr sz="1200" b="1">
                <a:solidFill>
                  <a:srgbClr val="10B981"/>
                </a:solidFill>
              </a:defRPr>
            </a:pPr>
            <a:r>
              <a:t>BIZIGNITE Part 1: Strategic Foundation &amp; Business Model Canvas  |  Presenter: Kommanapalli Alivelu Manga Tayaru</a:t>
            </a:r>
          </a:p>
        </p:txBody>
      </p:sp>
      <p:sp>
        <p:nvSpPr>
          <p:cNvPr id="4" name="Rounded Rectangle 3"/>
          <p:cNvSpPr/>
          <p:nvPr/>
        </p:nvSpPr>
        <p:spPr>
          <a:xfrm>
            <a:off x="731520" y="2377440"/>
            <a:ext cx="5120640" cy="4023360"/>
          </a:xfrm>
          <a:prstGeom prst="roundRect">
            <a:avLst/>
          </a:prstGeom>
          <a:solidFill>
            <a:srgbClr val="0F172A"/>
          </a:solidFill>
          <a:ln w="19050">
            <a:solidFill>
              <a:srgbClr val="EAB3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514600"/>
            <a:ext cx="4754880" cy="365760"/>
          </a:xfrm>
          <a:prstGeom prst="rect">
            <a:avLst/>
          </a:prstGeom>
          <a:noFill/>
        </p:spPr>
        <p:txBody>
          <a:bodyPr wrap="square">
            <a:spAutoFit/>
          </a:bodyPr>
          <a:lstStyle/>
          <a:p>
            <a:pPr>
              <a:defRPr sz="1300" b="1">
                <a:solidFill>
                  <a:srgbClr val="EAB308"/>
                </a:solidFill>
              </a:defRPr>
            </a:pPr>
            <a:r>
              <a:t>💥 The Unprecedented Startup Concept</a:t>
            </a:r>
          </a:p>
        </p:txBody>
      </p:sp>
      <p:sp>
        <p:nvSpPr>
          <p:cNvPr id="6" name="TextBox 5"/>
          <p:cNvSpPr txBox="1"/>
          <p:nvPr/>
        </p:nvSpPr>
        <p:spPr>
          <a:xfrm>
            <a:off x="914400" y="2926080"/>
            <a:ext cx="4754880" cy="3291840"/>
          </a:xfrm>
          <a:prstGeom prst="rect">
            <a:avLst/>
          </a:prstGeom>
          <a:noFill/>
        </p:spPr>
        <p:txBody>
          <a:bodyPr wrap="square">
            <a:spAutoFit/>
          </a:bodyPr>
          <a:lstStyle/>
          <a:p>
            <a:pPr>
              <a:spcAft>
                <a:spcPts val="1000"/>
              </a:spcAft>
              <a:defRPr sz="1100">
                <a:solidFill>
                  <a:srgbClr val="FFFFFF"/>
                </a:solidFill>
              </a:defRPr>
            </a:pPr>
            <a:r>
              <a:t>• The Market Paradox: India processes over 14 Billion monthly UPI payments, yet payment apps operate as predatory 'dumb pipes' designed to sell 36% APR loans and BNPL debt traps.</a:t>
            </a:r>
          </a:p>
          <a:p>
            <a:pPr>
              <a:spcAft>
                <a:spcPts val="1000"/>
              </a:spcAft>
              <a:defRPr sz="1100">
                <a:solidFill>
                  <a:srgbClr val="FFFFFF"/>
                </a:solidFill>
              </a:defRPr>
            </a:pPr>
            <a:r>
              <a:t>• The GuardianFi Inversion: India's first fiduciary, autonomous Personal CFO. Instead of monetizing by pushing consumer debt, it computes absolute financial truth, enforces debt capacity guardrails, and defends household solvency.</a:t>
            </a:r>
          </a:p>
          <a:p>
            <a:pPr>
              <a:spcAft>
                <a:spcPts val="1000"/>
              </a:spcAft>
              <a:defRPr sz="1100">
                <a:solidFill>
                  <a:srgbClr val="FFFFFF"/>
                </a:solidFill>
              </a:defRPr>
            </a:pPr>
            <a:r>
              <a:t>• Zero Selling. 100% Solving: High-trust category creation in Indian FinTech.</a:t>
            </a:r>
          </a:p>
        </p:txBody>
      </p:sp>
      <p:sp>
        <p:nvSpPr>
          <p:cNvPr id="7" name="Rounded Rectangle 6"/>
          <p:cNvSpPr/>
          <p:nvPr/>
        </p:nvSpPr>
        <p:spPr>
          <a:xfrm>
            <a:off x="6217920" y="2377440"/>
            <a:ext cx="5212080" cy="4023360"/>
          </a:xfrm>
          <a:prstGeom prst="roundRect">
            <a:avLst/>
          </a:prstGeom>
          <a:solidFill>
            <a:srgbClr val="0F172A"/>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2514600"/>
            <a:ext cx="4846320" cy="365760"/>
          </a:xfrm>
          <a:prstGeom prst="rect">
            <a:avLst/>
          </a:prstGeom>
          <a:noFill/>
        </p:spPr>
        <p:txBody>
          <a:bodyPr wrap="square">
            <a:spAutoFit/>
          </a:bodyPr>
          <a:lstStyle/>
          <a:p>
            <a:pPr>
              <a:defRPr sz="1300" b="1">
                <a:solidFill>
                  <a:srgbClr val="EF4444"/>
                </a:solidFill>
              </a:defRPr>
            </a:pPr>
            <a:r>
              <a:t>📉 The Documented Problem (Regulatory Proof)</a:t>
            </a:r>
          </a:p>
        </p:txBody>
      </p:sp>
      <p:sp>
        <p:nvSpPr>
          <p:cNvPr id="9" name="TextBox 8"/>
          <p:cNvSpPr txBox="1"/>
          <p:nvPr/>
        </p:nvSpPr>
        <p:spPr>
          <a:xfrm>
            <a:off x="6400800" y="2926080"/>
            <a:ext cx="4846320" cy="3291840"/>
          </a:xfrm>
          <a:prstGeom prst="rect">
            <a:avLst/>
          </a:prstGeom>
          <a:noFill/>
        </p:spPr>
        <p:txBody>
          <a:bodyPr wrap="square">
            <a:spAutoFit/>
          </a:bodyPr>
          <a:lstStyle/>
          <a:p>
            <a:pPr>
              <a:spcAft>
                <a:spcPts val="800"/>
              </a:spcAft>
              <a:defRPr sz="1050">
                <a:solidFill>
                  <a:srgbClr val="FFFFFF"/>
                </a:solidFill>
              </a:defRPr>
            </a:pPr>
            <a:r>
              <a:t>• NCFE &amp; RBI Literacy Audit: Only 27% of Indian adults are financially literate; 82% fail basic compound interest calculations, taking micro-loans with 300%+ effective APR.</a:t>
            </a:r>
          </a:p>
          <a:p>
            <a:pPr>
              <a:spcAft>
                <a:spcPts val="800"/>
              </a:spcAft>
              <a:defRPr sz="1050">
                <a:solidFill>
                  <a:srgbClr val="FFFFFF"/>
                </a:solidFill>
              </a:defRPr>
            </a:pPr>
            <a:r>
              <a:t>• RBI Financial Stability Report: Unsecured consumer credit and BNPL micro-debt surged past ₹1.5 Lakh Crore at an alarming &gt;28% CAGR via frictionless 1-click checkouts.</a:t>
            </a:r>
          </a:p>
          <a:p>
            <a:pPr>
              <a:spcAft>
                <a:spcPts val="800"/>
              </a:spcAft>
              <a:defRPr sz="1050">
                <a:solidFill>
                  <a:srgbClr val="FFFFFF"/>
                </a:solidFill>
              </a:defRPr>
            </a:pPr>
            <a:r>
              <a:t>• SEBI Retail Loss Study: 93% of individual F&amp;O traders lost capital, evaporating ₹1.81 Lakh Crore of household savings over FY22–FY24.</a:t>
            </a:r>
          </a:p>
          <a:p>
            <a:pPr>
              <a:spcAft>
                <a:spcPts val="800"/>
              </a:spcAft>
              <a:defRPr sz="1050">
                <a:solidFill>
                  <a:srgbClr val="FFFFFF"/>
                </a:solidFill>
              </a:defRPr>
            </a:pPr>
            <a:r>
              <a:t>• The Cause: Incumbent apps monetize via loan bounties. GuardianFi intervenes with mathematical balance sheet protection.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EAB308"/>
                </a:solidFill>
              </a:defRPr>
            </a:pPr>
            <a:r>
              <a:t>PART 1: STRATEGIC FOUNDATION (SLIDE 2 OF 5)</a:t>
            </a:r>
          </a:p>
        </p:txBody>
      </p:sp>
      <p:sp>
        <p:nvSpPr>
          <p:cNvPr id="4" name="TextBox 3"/>
          <p:cNvSpPr txBox="1"/>
          <p:nvPr/>
        </p:nvSpPr>
        <p:spPr>
          <a:xfrm>
            <a:off x="731520" y="658368"/>
            <a:ext cx="10698480" cy="731520"/>
          </a:xfrm>
          <a:prstGeom prst="rect">
            <a:avLst/>
          </a:prstGeom>
          <a:noFill/>
        </p:spPr>
        <p:txBody>
          <a:bodyPr wrap="square">
            <a:spAutoFit/>
          </a:bodyPr>
          <a:lstStyle/>
          <a:p>
            <a:pPr>
              <a:defRPr sz="2300" b="1">
                <a:solidFill>
                  <a:srgbClr val="FFFFFF"/>
                </a:solidFill>
              </a:defRPr>
            </a:pPr>
            <a:r>
              <a:t>Proposed Solution: Fiduciary Personal CFO &amp; Wealth Defense Engine</a:t>
            </a:r>
          </a:p>
        </p:txBody>
      </p:sp>
      <p:sp>
        <p:nvSpPr>
          <p:cNvPr id="5" name="Rounded Rectangle 4"/>
          <p:cNvSpPr/>
          <p:nvPr/>
        </p:nvSpPr>
        <p:spPr>
          <a:xfrm>
            <a:off x="731520" y="1645920"/>
            <a:ext cx="5120640" cy="4663440"/>
          </a:xfrm>
          <a:prstGeom prst="roundRect">
            <a:avLst/>
          </a:prstGeom>
          <a:solidFill>
            <a:srgbClr val="0F172A"/>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4754880" cy="365760"/>
          </a:xfrm>
          <a:prstGeom prst="rect">
            <a:avLst/>
          </a:prstGeom>
          <a:noFill/>
        </p:spPr>
        <p:txBody>
          <a:bodyPr wrap="square">
            <a:spAutoFit/>
          </a:bodyPr>
          <a:lstStyle/>
          <a:p>
            <a:pPr>
              <a:defRPr sz="1300" b="1">
                <a:solidFill>
                  <a:srgbClr val="3B82F6"/>
                </a:solidFill>
              </a:defRPr>
            </a:pPr>
            <a:r>
              <a:t>🛡️ 4 Core Financial Defense Pillars</a:t>
            </a:r>
          </a:p>
        </p:txBody>
      </p:sp>
      <p:sp>
        <p:nvSpPr>
          <p:cNvPr id="7" name="TextBox 6"/>
          <p:cNvSpPr txBox="1"/>
          <p:nvPr/>
        </p:nvSpPr>
        <p:spPr>
          <a:xfrm>
            <a:off x="914400" y="2194560"/>
            <a:ext cx="4754880" cy="3931920"/>
          </a:xfrm>
          <a:prstGeom prst="rect">
            <a:avLst/>
          </a:prstGeom>
          <a:noFill/>
        </p:spPr>
        <p:txBody>
          <a:bodyPr wrap="square">
            <a:spAutoFit/>
          </a:bodyPr>
          <a:lstStyle/>
          <a:p>
            <a:pPr>
              <a:spcAft>
                <a:spcPts val="1000"/>
              </a:spcAft>
              <a:defRPr sz="1100">
                <a:solidFill>
                  <a:srgbClr val="FFFFFF"/>
                </a:solidFill>
              </a:defRPr>
            </a:pPr>
            <a:r>
              <a:t>• 1. Consolidated Household Balance Sheet: Pulls verified data across bank accounts, mutual funds, equities, gold, real estate, and liabilities via the RBI Account Aggregator into one live Net Worth metric.</a:t>
            </a:r>
          </a:p>
          <a:p>
            <a:pPr>
              <a:spcAft>
                <a:spcPts val="1000"/>
              </a:spcAft>
              <a:defRPr sz="1100">
                <a:solidFill>
                  <a:srgbClr val="FFFFFF"/>
                </a:solidFill>
              </a:defRPr>
            </a:pPr>
            <a:r>
              <a:t>• 2. Guardian Trust Score (0-900): Real-time creditworthiness &amp; liquidity health index evaluating DTI ratio, emergency runway, savings rate, and payment regularity.</a:t>
            </a:r>
          </a:p>
          <a:p>
            <a:pPr>
              <a:spcAft>
                <a:spcPts val="1000"/>
              </a:spcAft>
              <a:defRPr sz="1100">
                <a:solidFill>
                  <a:srgbClr val="FFFFFF"/>
                </a:solidFill>
              </a:defRPr>
            </a:pPr>
            <a:r>
              <a:t>• 3. Debt Capacity Circuit Breaker: Mathematical borrowing ceiling based on institutional lending norms that stops dangerous over-leverage before default occurs.</a:t>
            </a:r>
          </a:p>
          <a:p>
            <a:pPr>
              <a:spcAft>
                <a:spcPts val="1000"/>
              </a:spcAft>
              <a:defRPr sz="1100">
                <a:solidFill>
                  <a:srgbClr val="FFFFFF"/>
                </a:solidFill>
              </a:defRPr>
            </a:pPr>
            <a:r>
              <a:t>• 4. Simple &amp; Compound Amortization Engine: Visually reveals exponential compounding debt traps before signing loan contracts.</a:t>
            </a:r>
          </a:p>
          <a:p>
            <a:pPr>
              <a:spcAft>
                <a:spcPts val="1000"/>
              </a:spcAft>
              <a:defRPr sz="1100">
                <a:solidFill>
                  <a:srgbClr val="FFFFFF"/>
                </a:solidFill>
              </a:defRPr>
            </a:pPr>
            <a:r>
              <a:t>• 5. 100% Fiduciary Independence: Zero affiliate kickbacks from predatory lenders. Recommendations are 100% mathematical.</a:t>
            </a:r>
          </a:p>
        </p:txBody>
      </p:sp>
      <p:sp>
        <p:nvSpPr>
          <p:cNvPr id="8" name="Rounded Rectangle 7"/>
          <p:cNvSpPr/>
          <p:nvPr/>
        </p:nvSpPr>
        <p:spPr>
          <a:xfrm>
            <a:off x="6217920" y="1645920"/>
            <a:ext cx="5212080" cy="4663440"/>
          </a:xfrm>
          <a:prstGeom prst="roundRect">
            <a:avLst/>
          </a:prstGeom>
          <a:solidFill>
            <a:srgbClr val="0F172A"/>
          </a:solidFill>
          <a:ln w="19050">
            <a:solidFill>
              <a:srgbClr val="EAB3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783080"/>
            <a:ext cx="4846320" cy="365760"/>
          </a:xfrm>
          <a:prstGeom prst="rect">
            <a:avLst/>
          </a:prstGeom>
          <a:noFill/>
        </p:spPr>
        <p:txBody>
          <a:bodyPr wrap="square">
            <a:spAutoFit/>
          </a:bodyPr>
          <a:lstStyle/>
          <a:p>
            <a:pPr>
              <a:defRPr sz="1300" b="1">
                <a:solidFill>
                  <a:srgbClr val="EAB308"/>
                </a:solidFill>
              </a:defRPr>
            </a:pPr>
            <a:r>
              <a:t>🖥️ Live Balance Sheet Interface Preview</a:t>
            </a:r>
          </a:p>
        </p:txBody>
      </p:sp>
      <p:pic>
        <p:nvPicPr>
          <p:cNvPr id="10" name="Picture 9" descr="guardian_dashboard_ui_1789057554764.jpg"/>
          <p:cNvPicPr>
            <a:picLocks noChangeAspect="1"/>
          </p:cNvPicPr>
          <p:nvPr/>
        </p:nvPicPr>
        <p:blipFill>
          <a:blip r:embed="rId2"/>
          <a:stretch>
            <a:fillRect/>
          </a:stretch>
        </p:blipFill>
        <p:spPr>
          <a:xfrm>
            <a:off x="6400800" y="2194560"/>
            <a:ext cx="4846320" cy="384048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EAB308"/>
                </a:solidFill>
              </a:defRPr>
            </a:pPr>
            <a:r>
              <a:t>PART 1: BUSINESS MODEL CANVAS — RIGHT SIDE</a:t>
            </a:r>
          </a:p>
        </p:txBody>
      </p:sp>
      <p:sp>
        <p:nvSpPr>
          <p:cNvPr id="4" name="TextBox 3"/>
          <p:cNvSpPr txBox="1"/>
          <p:nvPr/>
        </p:nvSpPr>
        <p:spPr>
          <a:xfrm>
            <a:off x="731520" y="658368"/>
            <a:ext cx="10698480" cy="731520"/>
          </a:xfrm>
          <a:prstGeom prst="rect">
            <a:avLst/>
          </a:prstGeom>
          <a:noFill/>
        </p:spPr>
        <p:txBody>
          <a:bodyPr wrap="square">
            <a:spAutoFit/>
          </a:bodyPr>
          <a:lstStyle/>
          <a:p>
            <a:pPr>
              <a:defRPr sz="2300" b="1">
                <a:solidFill>
                  <a:srgbClr val="FFFFFF"/>
                </a:solidFill>
              </a:defRPr>
            </a:pPr>
            <a:r>
              <a:t>Business Model Canvas (Market &amp; Customer Facing Half)</a:t>
            </a:r>
          </a:p>
        </p:txBody>
      </p:sp>
      <p:sp>
        <p:nvSpPr>
          <p:cNvPr id="5" name="Rounded Rectangle 4"/>
          <p:cNvSpPr/>
          <p:nvPr/>
        </p:nvSpPr>
        <p:spPr>
          <a:xfrm>
            <a:off x="731520" y="1645920"/>
            <a:ext cx="5120640" cy="2194560"/>
          </a:xfrm>
          <a:prstGeom prst="roundRect">
            <a:avLst/>
          </a:prstGeom>
          <a:solidFill>
            <a:srgbClr val="0F172A"/>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4754880" cy="365760"/>
          </a:xfrm>
          <a:prstGeom prst="rect">
            <a:avLst/>
          </a:prstGeom>
          <a:noFill/>
        </p:spPr>
        <p:txBody>
          <a:bodyPr wrap="square">
            <a:spAutoFit/>
          </a:bodyPr>
          <a:lstStyle/>
          <a:p>
            <a:pPr>
              <a:defRPr sz="1300" b="1">
                <a:solidFill>
                  <a:srgbClr val="06B6D4"/>
                </a:solidFill>
              </a:defRPr>
            </a:pPr>
            <a:r>
              <a:t>👥 Customer Segments</a:t>
            </a:r>
          </a:p>
        </p:txBody>
      </p:sp>
      <p:sp>
        <p:nvSpPr>
          <p:cNvPr id="7" name="TextBox 6"/>
          <p:cNvSpPr txBox="1"/>
          <p:nvPr/>
        </p:nvSpPr>
        <p:spPr>
          <a:xfrm>
            <a:off x="914400" y="2148840"/>
            <a:ext cx="4754880" cy="1645920"/>
          </a:xfrm>
          <a:prstGeom prst="rect">
            <a:avLst/>
          </a:prstGeom>
          <a:noFill/>
        </p:spPr>
        <p:txBody>
          <a:bodyPr wrap="square">
            <a:spAutoFit/>
          </a:bodyPr>
          <a:lstStyle/>
          <a:p>
            <a:pPr>
              <a:spcAft>
                <a:spcPts val="400"/>
              </a:spcAft>
              <a:defRPr sz="1000">
                <a:solidFill>
                  <a:srgbClr val="FFFFFF"/>
                </a:solidFill>
              </a:defRPr>
            </a:pPr>
            <a:r>
              <a:t>• Mass Affluent &amp; Urban Salaried: 45M+ professionals with multiple cards and fragmented bank accounts.</a:t>
            </a:r>
          </a:p>
          <a:p>
            <a:pPr>
              <a:spcAft>
                <a:spcPts val="400"/>
              </a:spcAft>
              <a:defRPr sz="1000">
                <a:solidFill>
                  <a:srgbClr val="FFFFFF"/>
                </a:solidFill>
              </a:defRPr>
            </a:pPr>
            <a:r>
              <a:t>• Retail Capital Market Investors: 120M+ demat account holders lacking risk guardrails.</a:t>
            </a:r>
          </a:p>
          <a:p>
            <a:pPr>
              <a:spcAft>
                <a:spcPts val="400"/>
              </a:spcAft>
              <a:defRPr sz="1000">
                <a:solidFill>
                  <a:srgbClr val="FFFFFF"/>
                </a:solidFill>
              </a:defRPr>
            </a:pPr>
            <a:r>
              <a:t>• Gig Workers &amp; Freelancers: 15M+ informal earners needing cash-flow based underwriting.</a:t>
            </a:r>
          </a:p>
          <a:p>
            <a:pPr>
              <a:spcAft>
                <a:spcPts val="400"/>
              </a:spcAft>
              <a:defRPr sz="1000">
                <a:solidFill>
                  <a:srgbClr val="FFFFFF"/>
                </a:solidFill>
              </a:defRPr>
            </a:pPr>
            <a:r>
              <a:t>• Enterprise B2B: Regional cooperative banks and NBFCs requiring automated debt capacity APIs.</a:t>
            </a:r>
          </a:p>
        </p:txBody>
      </p:sp>
      <p:sp>
        <p:nvSpPr>
          <p:cNvPr id="8" name="Rounded Rectangle 7"/>
          <p:cNvSpPr/>
          <p:nvPr/>
        </p:nvSpPr>
        <p:spPr>
          <a:xfrm>
            <a:off x="6217920" y="1645920"/>
            <a:ext cx="5120640" cy="2194560"/>
          </a:xfrm>
          <a:prstGeom prst="roundRect">
            <a:avLst/>
          </a:prstGeom>
          <a:solidFill>
            <a:srgbClr val="0F172A"/>
          </a:solidFill>
          <a:ln w="19050">
            <a:solidFill>
              <a:srgbClr val="EAB3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783080"/>
            <a:ext cx="4754880" cy="365760"/>
          </a:xfrm>
          <a:prstGeom prst="rect">
            <a:avLst/>
          </a:prstGeom>
          <a:noFill/>
        </p:spPr>
        <p:txBody>
          <a:bodyPr wrap="square">
            <a:spAutoFit/>
          </a:bodyPr>
          <a:lstStyle/>
          <a:p>
            <a:pPr>
              <a:defRPr sz="1300" b="1">
                <a:solidFill>
                  <a:srgbClr val="EAB308"/>
                </a:solidFill>
              </a:defRPr>
            </a:pPr>
            <a:r>
              <a:t>💎 Value Propositions</a:t>
            </a:r>
          </a:p>
        </p:txBody>
      </p:sp>
      <p:sp>
        <p:nvSpPr>
          <p:cNvPr id="10" name="TextBox 9"/>
          <p:cNvSpPr txBox="1"/>
          <p:nvPr/>
        </p:nvSpPr>
        <p:spPr>
          <a:xfrm>
            <a:off x="6400800" y="2148840"/>
            <a:ext cx="4754880" cy="1645920"/>
          </a:xfrm>
          <a:prstGeom prst="rect">
            <a:avLst/>
          </a:prstGeom>
          <a:noFill/>
        </p:spPr>
        <p:txBody>
          <a:bodyPr wrap="square">
            <a:spAutoFit/>
          </a:bodyPr>
          <a:lstStyle/>
          <a:p>
            <a:pPr>
              <a:spcAft>
                <a:spcPts val="400"/>
              </a:spcAft>
              <a:defRPr sz="1000">
                <a:solidFill>
                  <a:srgbClr val="FFFFFF"/>
                </a:solidFill>
              </a:defRPr>
            </a:pPr>
            <a:r>
              <a:t>• 100% Fiduciary Protection: Zero commissions from lenders; uncompromised consumer defense.</a:t>
            </a:r>
          </a:p>
          <a:p>
            <a:pPr>
              <a:spcAft>
                <a:spcPts val="400"/>
              </a:spcAft>
              <a:defRPr sz="1000">
                <a:solidFill>
                  <a:srgbClr val="FFFFFF"/>
                </a:solidFill>
              </a:defRPr>
            </a:pPr>
            <a:r>
              <a:t>• Unified Financial Truth: Instant consolidation of multi-bank accounts, equities, gold, and debt.</a:t>
            </a:r>
          </a:p>
          <a:p>
            <a:pPr>
              <a:spcAft>
                <a:spcPts val="400"/>
              </a:spcAft>
              <a:defRPr sz="1000">
                <a:solidFill>
                  <a:srgbClr val="FFFFFF"/>
                </a:solidFill>
              </a:defRPr>
            </a:pPr>
            <a:r>
              <a:t>• Active Debt Circuit Breakers: Mathematical borrowing ceiling preventing toxic over-leverage.</a:t>
            </a:r>
          </a:p>
          <a:p>
            <a:pPr>
              <a:spcAft>
                <a:spcPts val="400"/>
              </a:spcAft>
              <a:defRPr sz="1000">
                <a:solidFill>
                  <a:srgbClr val="FFFFFF"/>
                </a:solidFill>
              </a:defRPr>
            </a:pPr>
            <a:r>
              <a:t>• Autonomous Wealth Optimization: Actionable tax-loss harvesting and liquidity buffer planning.</a:t>
            </a:r>
          </a:p>
        </p:txBody>
      </p:sp>
      <p:sp>
        <p:nvSpPr>
          <p:cNvPr id="11" name="Rounded Rectangle 10"/>
          <p:cNvSpPr/>
          <p:nvPr/>
        </p:nvSpPr>
        <p:spPr>
          <a:xfrm>
            <a:off x="731520" y="4114800"/>
            <a:ext cx="5120640" cy="2194560"/>
          </a:xfrm>
          <a:prstGeom prst="roundRect">
            <a:avLst/>
          </a:prstGeom>
          <a:solidFill>
            <a:srgbClr val="0F172A"/>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251960"/>
            <a:ext cx="4754880" cy="365760"/>
          </a:xfrm>
          <a:prstGeom prst="rect">
            <a:avLst/>
          </a:prstGeom>
          <a:noFill/>
        </p:spPr>
        <p:txBody>
          <a:bodyPr wrap="square">
            <a:spAutoFit/>
          </a:bodyPr>
          <a:lstStyle/>
          <a:p>
            <a:pPr>
              <a:defRPr sz="1300" b="1">
                <a:solidFill>
                  <a:srgbClr val="3B82F6"/>
                </a:solidFill>
              </a:defRPr>
            </a:pPr>
            <a:r>
              <a:t>📢 Channels &amp; Customer Relationships</a:t>
            </a:r>
          </a:p>
        </p:txBody>
      </p:sp>
      <p:sp>
        <p:nvSpPr>
          <p:cNvPr id="13" name="TextBox 12"/>
          <p:cNvSpPr txBox="1"/>
          <p:nvPr/>
        </p:nvSpPr>
        <p:spPr>
          <a:xfrm>
            <a:off x="914400" y="4617720"/>
            <a:ext cx="4754880" cy="1645920"/>
          </a:xfrm>
          <a:prstGeom prst="rect">
            <a:avLst/>
          </a:prstGeom>
          <a:noFill/>
        </p:spPr>
        <p:txBody>
          <a:bodyPr wrap="square">
            <a:spAutoFit/>
          </a:bodyPr>
          <a:lstStyle/>
          <a:p>
            <a:pPr>
              <a:spcAft>
                <a:spcPts val="600"/>
              </a:spcAft>
              <a:defRPr sz="1000">
                <a:solidFill>
                  <a:srgbClr val="FFFFFF"/>
                </a:solidFill>
              </a:defRPr>
            </a:pPr>
            <a:r>
              <a:t>• Channels: Direct web application, Account Aggregator consent flows, B2B partner bank portals, and organic viral referral loops via financial health calculators.</a:t>
            </a:r>
          </a:p>
          <a:p>
            <a:pPr>
              <a:spcAft>
                <a:spcPts val="600"/>
              </a:spcAft>
              <a:defRPr sz="1000">
                <a:solidFill>
                  <a:srgbClr val="FFFFFF"/>
                </a:solidFill>
              </a:defRPr>
            </a:pPr>
            <a:r>
              <a:t>• Customer Relationships: Automated algorithmic self-service, real-time proactive risk alerts, transparent fee-only trust, and dedicated financial mastery community.</a:t>
            </a:r>
          </a:p>
        </p:txBody>
      </p:sp>
      <p:sp>
        <p:nvSpPr>
          <p:cNvPr id="14" name="Rounded Rectangle 13"/>
          <p:cNvSpPr/>
          <p:nvPr/>
        </p:nvSpPr>
        <p:spPr>
          <a:xfrm>
            <a:off x="6217920" y="4114800"/>
            <a:ext cx="5120640" cy="219456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4251960"/>
            <a:ext cx="4754880" cy="365760"/>
          </a:xfrm>
          <a:prstGeom prst="rect">
            <a:avLst/>
          </a:prstGeom>
          <a:noFill/>
        </p:spPr>
        <p:txBody>
          <a:bodyPr wrap="square">
            <a:spAutoFit/>
          </a:bodyPr>
          <a:lstStyle/>
          <a:p>
            <a:pPr>
              <a:defRPr sz="1300" b="1">
                <a:solidFill>
                  <a:srgbClr val="10B981"/>
                </a:solidFill>
              </a:defRPr>
            </a:pPr>
            <a:r>
              <a:t>💰 Revenue Streams</a:t>
            </a:r>
          </a:p>
        </p:txBody>
      </p:sp>
      <p:sp>
        <p:nvSpPr>
          <p:cNvPr id="16" name="TextBox 15"/>
          <p:cNvSpPr txBox="1"/>
          <p:nvPr/>
        </p:nvSpPr>
        <p:spPr>
          <a:xfrm>
            <a:off x="6400800" y="4617720"/>
            <a:ext cx="4754880" cy="1645920"/>
          </a:xfrm>
          <a:prstGeom prst="rect">
            <a:avLst/>
          </a:prstGeom>
          <a:noFill/>
        </p:spPr>
        <p:txBody>
          <a:bodyPr wrap="square">
            <a:spAutoFit/>
          </a:bodyPr>
          <a:lstStyle/>
          <a:p>
            <a:pPr>
              <a:spcAft>
                <a:spcPts val="400"/>
              </a:spcAft>
              <a:defRPr sz="1000">
                <a:solidFill>
                  <a:srgbClr val="FFFFFF"/>
                </a:solidFill>
              </a:defRPr>
            </a:pPr>
            <a:r>
              <a:t>• Guardian Pro Subscriptions: ₹149/month for automated tax-harvesting and AI copilot.</a:t>
            </a:r>
          </a:p>
          <a:p>
            <a:pPr>
              <a:spcAft>
                <a:spcPts val="400"/>
              </a:spcAft>
              <a:defRPr sz="1000">
                <a:solidFill>
                  <a:srgbClr val="FFFFFF"/>
                </a:solidFill>
              </a:defRPr>
            </a:pPr>
            <a:r>
              <a:t>• Merchant Services: MDR on Credit Cards &amp; Wallets for merchant checkouts.</a:t>
            </a:r>
          </a:p>
          <a:p>
            <a:pPr>
              <a:spcAft>
                <a:spcPts val="400"/>
              </a:spcAft>
              <a:defRPr sz="1000">
                <a:solidFill>
                  <a:srgbClr val="FFFFFF"/>
                </a:solidFill>
              </a:defRPr>
            </a:pPr>
            <a:r>
              <a:t>• Financial Product Distribution: Fiduciary zero-kickback direct tier fees from AMCs.</a:t>
            </a:r>
          </a:p>
          <a:p>
            <a:pPr>
              <a:spcAft>
                <a:spcPts val="400"/>
              </a:spcAft>
              <a:defRPr sz="1000">
                <a:solidFill>
                  <a:srgbClr val="FFFFFF"/>
                </a:solidFill>
              </a:defRPr>
            </a:pPr>
            <a:r>
              <a:t>• B2B Embedded Risk API: Per-query credit scoring and debt capacity licensing to banks.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EAB308"/>
                </a:solidFill>
              </a:defRPr>
            </a:pPr>
            <a:r>
              <a:t>PART 1: BUSINESS MODEL CANVAS — LEFT SIDE</a:t>
            </a:r>
          </a:p>
        </p:txBody>
      </p:sp>
      <p:sp>
        <p:nvSpPr>
          <p:cNvPr id="4" name="TextBox 3"/>
          <p:cNvSpPr txBox="1"/>
          <p:nvPr/>
        </p:nvSpPr>
        <p:spPr>
          <a:xfrm>
            <a:off x="731520" y="658368"/>
            <a:ext cx="10698480" cy="731520"/>
          </a:xfrm>
          <a:prstGeom prst="rect">
            <a:avLst/>
          </a:prstGeom>
          <a:noFill/>
        </p:spPr>
        <p:txBody>
          <a:bodyPr wrap="square">
            <a:spAutoFit/>
          </a:bodyPr>
          <a:lstStyle/>
          <a:p>
            <a:pPr>
              <a:defRPr sz="2300" b="1">
                <a:solidFill>
                  <a:srgbClr val="FFFFFF"/>
                </a:solidFill>
              </a:defRPr>
            </a:pPr>
            <a:r>
              <a:t>Business Model Canvas (Internal Operations &amp; Infrastructure Half)</a:t>
            </a:r>
          </a:p>
        </p:txBody>
      </p:sp>
      <p:sp>
        <p:nvSpPr>
          <p:cNvPr id="5" name="Rounded Rectangle 4"/>
          <p:cNvSpPr/>
          <p:nvPr/>
        </p:nvSpPr>
        <p:spPr>
          <a:xfrm>
            <a:off x="731520" y="1645920"/>
            <a:ext cx="5120640" cy="2194560"/>
          </a:xfrm>
          <a:prstGeom prst="roundRect">
            <a:avLst/>
          </a:prstGeom>
          <a:solidFill>
            <a:srgbClr val="0F172A"/>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4754880" cy="365760"/>
          </a:xfrm>
          <a:prstGeom prst="rect">
            <a:avLst/>
          </a:prstGeom>
          <a:noFill/>
        </p:spPr>
        <p:txBody>
          <a:bodyPr wrap="square">
            <a:spAutoFit/>
          </a:bodyPr>
          <a:lstStyle/>
          <a:p>
            <a:pPr>
              <a:defRPr sz="1300" b="1">
                <a:solidFill>
                  <a:srgbClr val="3B82F6"/>
                </a:solidFill>
              </a:defRPr>
            </a:pPr>
            <a:r>
              <a:t>🤝 Key Partnerships</a:t>
            </a:r>
          </a:p>
        </p:txBody>
      </p:sp>
      <p:sp>
        <p:nvSpPr>
          <p:cNvPr id="7" name="TextBox 6"/>
          <p:cNvSpPr txBox="1"/>
          <p:nvPr/>
        </p:nvSpPr>
        <p:spPr>
          <a:xfrm>
            <a:off x="914400" y="2148840"/>
            <a:ext cx="4754880" cy="1645920"/>
          </a:xfrm>
          <a:prstGeom prst="rect">
            <a:avLst/>
          </a:prstGeom>
          <a:noFill/>
        </p:spPr>
        <p:txBody>
          <a:bodyPr wrap="square">
            <a:spAutoFit/>
          </a:bodyPr>
          <a:lstStyle/>
          <a:p>
            <a:pPr>
              <a:spcAft>
                <a:spcPts val="400"/>
              </a:spcAft>
              <a:defRPr sz="1000">
                <a:solidFill>
                  <a:srgbClr val="FFFFFF"/>
                </a:solidFill>
              </a:defRPr>
            </a:pPr>
            <a:r>
              <a:t>• Banking Partners: Ingestion mapping for HDFC, ICICI, SBI, Federal Bank via escrow rails.</a:t>
            </a:r>
          </a:p>
          <a:p>
            <a:pPr>
              <a:spcAft>
                <a:spcPts val="400"/>
              </a:spcAft>
              <a:defRPr sz="1000">
                <a:solidFill>
                  <a:srgbClr val="FFFFFF"/>
                </a:solidFill>
              </a:defRPr>
            </a:pPr>
            <a:r>
              <a:t>• Licensed Account Aggregators: Sahamati-certified AAs (Anumati, OneMoney, Finvu).</a:t>
            </a:r>
          </a:p>
          <a:p>
            <a:pPr>
              <a:spcAft>
                <a:spcPts val="400"/>
              </a:spcAft>
              <a:defRPr sz="1000">
                <a:solidFill>
                  <a:srgbClr val="FFFFFF"/>
                </a:solidFill>
              </a:defRPr>
            </a:pPr>
            <a:r>
              <a:t>• Asset Management Companies (AMCs) &amp; Depositories: CDSL / NSDL ecosystem integration.</a:t>
            </a:r>
          </a:p>
          <a:p>
            <a:pPr>
              <a:spcAft>
                <a:spcPts val="400"/>
              </a:spcAft>
              <a:defRPr sz="1000">
                <a:solidFill>
                  <a:srgbClr val="FFFFFF"/>
                </a:solidFill>
              </a:defRPr>
            </a:pPr>
            <a:r>
              <a:t>• Regulatory &amp; Legal Advisors: SEBI RIA and RBI compliance audit partners.</a:t>
            </a:r>
          </a:p>
        </p:txBody>
      </p:sp>
      <p:sp>
        <p:nvSpPr>
          <p:cNvPr id="8" name="Rounded Rectangle 7"/>
          <p:cNvSpPr/>
          <p:nvPr/>
        </p:nvSpPr>
        <p:spPr>
          <a:xfrm>
            <a:off x="6217920" y="1645920"/>
            <a:ext cx="5120640" cy="2194560"/>
          </a:xfrm>
          <a:prstGeom prst="roundRect">
            <a:avLst/>
          </a:prstGeom>
          <a:solidFill>
            <a:srgbClr val="0F172A"/>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783080"/>
            <a:ext cx="4754880" cy="365760"/>
          </a:xfrm>
          <a:prstGeom prst="rect">
            <a:avLst/>
          </a:prstGeom>
          <a:noFill/>
        </p:spPr>
        <p:txBody>
          <a:bodyPr wrap="square">
            <a:spAutoFit/>
          </a:bodyPr>
          <a:lstStyle/>
          <a:p>
            <a:pPr>
              <a:defRPr sz="1300" b="1">
                <a:solidFill>
                  <a:srgbClr val="06B6D4"/>
                </a:solidFill>
              </a:defRPr>
            </a:pPr>
            <a:r>
              <a:t>⚙️ Key Activities</a:t>
            </a:r>
          </a:p>
        </p:txBody>
      </p:sp>
      <p:sp>
        <p:nvSpPr>
          <p:cNvPr id="10" name="TextBox 9"/>
          <p:cNvSpPr txBox="1"/>
          <p:nvPr/>
        </p:nvSpPr>
        <p:spPr>
          <a:xfrm>
            <a:off x="6400800" y="2148840"/>
            <a:ext cx="4754880" cy="1645920"/>
          </a:xfrm>
          <a:prstGeom prst="rect">
            <a:avLst/>
          </a:prstGeom>
          <a:noFill/>
        </p:spPr>
        <p:txBody>
          <a:bodyPr wrap="square">
            <a:spAutoFit/>
          </a:bodyPr>
          <a:lstStyle/>
          <a:p>
            <a:pPr>
              <a:spcAft>
                <a:spcPts val="400"/>
              </a:spcAft>
              <a:defRPr sz="1000">
                <a:solidFill>
                  <a:srgbClr val="FFFFFF"/>
                </a:solidFill>
              </a:defRPr>
            </a:pPr>
            <a:r>
              <a:t>• Algorithmic Financial Modeling: Continuous optimization of the 0-900 Trust Score model.</a:t>
            </a:r>
          </a:p>
          <a:p>
            <a:pPr>
              <a:spcAft>
                <a:spcPts val="400"/>
              </a:spcAft>
              <a:defRPr sz="1000">
                <a:solidFill>
                  <a:srgbClr val="FFFFFF"/>
                </a:solidFill>
              </a:defRPr>
            </a:pPr>
            <a:r>
              <a:t>• Real-Time Multi-Bank Reconciliation: Ingesting and sanitizing multi-bank statements.</a:t>
            </a:r>
          </a:p>
          <a:p>
            <a:pPr>
              <a:spcAft>
                <a:spcPts val="400"/>
              </a:spcAft>
              <a:defRPr sz="1000">
                <a:solidFill>
                  <a:srgbClr val="FFFFFF"/>
                </a:solidFill>
              </a:defRPr>
            </a:pPr>
            <a:r>
              <a:t>• Debt Circuit Breaker Risk Analytics: Calculating safe DTI borrowing limits in real time.</a:t>
            </a:r>
          </a:p>
          <a:p>
            <a:pPr>
              <a:spcAft>
                <a:spcPts val="400"/>
              </a:spcAft>
              <a:defRPr sz="1000">
                <a:solidFill>
                  <a:srgbClr val="FFFFFF"/>
                </a:solidFill>
              </a:defRPr>
            </a:pPr>
            <a:r>
              <a:t>• Regulatory Compliance Management: Adhering to RBI Data Localization and DPDP Act 2023.</a:t>
            </a:r>
          </a:p>
        </p:txBody>
      </p:sp>
      <p:sp>
        <p:nvSpPr>
          <p:cNvPr id="11" name="Rounded Rectangle 10"/>
          <p:cNvSpPr/>
          <p:nvPr/>
        </p:nvSpPr>
        <p:spPr>
          <a:xfrm>
            <a:off x="731520" y="4114800"/>
            <a:ext cx="5120640" cy="2194560"/>
          </a:xfrm>
          <a:prstGeom prst="roundRect">
            <a:avLst/>
          </a:prstGeom>
          <a:solidFill>
            <a:srgbClr val="0F172A"/>
          </a:solidFill>
          <a:ln w="19050">
            <a:solidFill>
              <a:srgbClr val="EAB3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251960"/>
            <a:ext cx="4754880" cy="365760"/>
          </a:xfrm>
          <a:prstGeom prst="rect">
            <a:avLst/>
          </a:prstGeom>
          <a:noFill/>
        </p:spPr>
        <p:txBody>
          <a:bodyPr wrap="square">
            <a:spAutoFit/>
          </a:bodyPr>
          <a:lstStyle/>
          <a:p>
            <a:pPr>
              <a:defRPr sz="1300" b="1">
                <a:solidFill>
                  <a:srgbClr val="EAB308"/>
                </a:solidFill>
              </a:defRPr>
            </a:pPr>
            <a:r>
              <a:t>🧠 Key Resources</a:t>
            </a:r>
          </a:p>
        </p:txBody>
      </p:sp>
      <p:sp>
        <p:nvSpPr>
          <p:cNvPr id="13" name="TextBox 12"/>
          <p:cNvSpPr txBox="1"/>
          <p:nvPr/>
        </p:nvSpPr>
        <p:spPr>
          <a:xfrm>
            <a:off x="914400" y="4617720"/>
            <a:ext cx="4754880" cy="1645920"/>
          </a:xfrm>
          <a:prstGeom prst="rect">
            <a:avLst/>
          </a:prstGeom>
          <a:noFill/>
        </p:spPr>
        <p:txBody>
          <a:bodyPr wrap="square">
            <a:spAutoFit/>
          </a:bodyPr>
          <a:lstStyle/>
          <a:p>
            <a:pPr>
              <a:spcAft>
                <a:spcPts val="400"/>
              </a:spcAft>
              <a:defRPr sz="1000">
                <a:solidFill>
                  <a:srgbClr val="FFFFFF"/>
                </a:solidFill>
              </a:defRPr>
            </a:pPr>
            <a:r>
              <a:t>• Proprietary Mathematical IP: Algorithmic Debt Capacity &amp; Credit Scoring algorithms.</a:t>
            </a:r>
          </a:p>
          <a:p>
            <a:pPr>
              <a:spcAft>
                <a:spcPts val="400"/>
              </a:spcAft>
              <a:defRPr sz="1000">
                <a:solidFill>
                  <a:srgbClr val="FFFFFF"/>
                </a:solidFill>
              </a:defRPr>
            </a:pPr>
            <a:r>
              <a:t>• Sovereign Database Architecture: Local-first persistence engine ensuring 100% data sovereignty.</a:t>
            </a:r>
          </a:p>
          <a:p>
            <a:pPr>
              <a:spcAft>
                <a:spcPts val="400"/>
              </a:spcAft>
              <a:defRPr sz="1000">
                <a:solidFill>
                  <a:srgbClr val="FFFFFF"/>
                </a:solidFill>
              </a:defRPr>
            </a:pPr>
            <a:r>
              <a:t>• Institutional Banking Connectors: Direct API bridges with Account Aggregator gateways.</a:t>
            </a:r>
          </a:p>
          <a:p>
            <a:pPr>
              <a:spcAft>
                <a:spcPts val="400"/>
              </a:spcAft>
              <a:defRPr sz="1000">
                <a:solidFill>
                  <a:srgbClr val="FFFFFF"/>
                </a:solidFill>
              </a:defRPr>
            </a:pPr>
            <a:r>
              <a:t>• Experienced Interdisciplinary Team: Deep expertise in FinTech, algorithmic finance, and law.</a:t>
            </a:r>
          </a:p>
        </p:txBody>
      </p:sp>
      <p:sp>
        <p:nvSpPr>
          <p:cNvPr id="14" name="Rounded Rectangle 13"/>
          <p:cNvSpPr/>
          <p:nvPr/>
        </p:nvSpPr>
        <p:spPr>
          <a:xfrm>
            <a:off x="6217920" y="4114800"/>
            <a:ext cx="5120640" cy="2194560"/>
          </a:xfrm>
          <a:prstGeom prst="roundRect">
            <a:avLst/>
          </a:prstGeom>
          <a:solidFill>
            <a:srgbClr val="0F172A"/>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4251960"/>
            <a:ext cx="4754880" cy="365760"/>
          </a:xfrm>
          <a:prstGeom prst="rect">
            <a:avLst/>
          </a:prstGeom>
          <a:noFill/>
        </p:spPr>
        <p:txBody>
          <a:bodyPr wrap="square">
            <a:spAutoFit/>
          </a:bodyPr>
          <a:lstStyle/>
          <a:p>
            <a:pPr>
              <a:defRPr sz="1300" b="1">
                <a:solidFill>
                  <a:srgbClr val="EF4444"/>
                </a:solidFill>
              </a:defRPr>
            </a:pPr>
            <a:r>
              <a:t>📊 Cost Structure</a:t>
            </a:r>
          </a:p>
        </p:txBody>
      </p:sp>
      <p:sp>
        <p:nvSpPr>
          <p:cNvPr id="16" name="TextBox 15"/>
          <p:cNvSpPr txBox="1"/>
          <p:nvPr/>
        </p:nvSpPr>
        <p:spPr>
          <a:xfrm>
            <a:off x="6400800" y="4617720"/>
            <a:ext cx="4754880" cy="1645920"/>
          </a:xfrm>
          <a:prstGeom prst="rect">
            <a:avLst/>
          </a:prstGeom>
          <a:noFill/>
        </p:spPr>
        <p:txBody>
          <a:bodyPr wrap="square">
            <a:spAutoFit/>
          </a:bodyPr>
          <a:lstStyle/>
          <a:p>
            <a:pPr>
              <a:spcAft>
                <a:spcPts val="400"/>
              </a:spcAft>
              <a:defRPr sz="1000">
                <a:solidFill>
                  <a:srgbClr val="FFFFFF"/>
                </a:solidFill>
              </a:defRPr>
            </a:pPr>
            <a:r>
              <a:t>• Fixed Costs: Core engineering talent, SEBI/RBI licensing, legal audits, sovereign servers.</a:t>
            </a:r>
          </a:p>
          <a:p>
            <a:pPr>
              <a:spcAft>
                <a:spcPts val="400"/>
              </a:spcAft>
              <a:defRPr sz="1000">
                <a:solidFill>
                  <a:srgbClr val="FFFFFF"/>
                </a:solidFill>
              </a:defRPr>
            </a:pPr>
            <a:r>
              <a:t>• Variable Costs: Account Aggregator per-pull verification fees (₹2–₹5 per statement pull).</a:t>
            </a:r>
          </a:p>
          <a:p>
            <a:pPr>
              <a:spcAft>
                <a:spcPts val="400"/>
              </a:spcAft>
              <a:defRPr sz="1000">
                <a:solidFill>
                  <a:srgbClr val="FFFFFF"/>
                </a:solidFill>
              </a:defRPr>
            </a:pPr>
            <a:r>
              <a:t>• Cybersecurity &amp; Audits: Regular CERT-In compliance penetration testing and ISO audits.</a:t>
            </a:r>
          </a:p>
          <a:p>
            <a:pPr>
              <a:spcAft>
                <a:spcPts val="400"/>
              </a:spcAft>
              <a:defRPr sz="1000">
                <a:solidFill>
                  <a:srgbClr val="FFFFFF"/>
                </a:solidFill>
              </a:defRPr>
            </a:pPr>
            <a:r>
              <a:t>• Go-To-Market &amp; Acquisition: Targeted educational campaigns and B2B partner integration.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EAB308"/>
                </a:solidFill>
              </a:defRPr>
            </a:pPr>
            <a:r>
              <a:t>PART 1: BUSINESS MODEL CANVAS — UNIFIED MATRIX</a:t>
            </a:r>
          </a:p>
        </p:txBody>
      </p:sp>
      <p:sp>
        <p:nvSpPr>
          <p:cNvPr id="4" name="TextBox 3"/>
          <p:cNvSpPr txBox="1"/>
          <p:nvPr/>
        </p:nvSpPr>
        <p:spPr>
          <a:xfrm>
            <a:off x="731520" y="658368"/>
            <a:ext cx="10698480" cy="731520"/>
          </a:xfrm>
          <a:prstGeom prst="rect">
            <a:avLst/>
          </a:prstGeom>
          <a:noFill/>
        </p:spPr>
        <p:txBody>
          <a:bodyPr wrap="square">
            <a:spAutoFit/>
          </a:bodyPr>
          <a:lstStyle/>
          <a:p>
            <a:pPr>
              <a:defRPr sz="2300" b="1">
                <a:solidFill>
                  <a:srgbClr val="FFFFFF"/>
                </a:solidFill>
              </a:defRPr>
            </a:pPr>
            <a:r>
              <a:t>The Complete Business Model Canvas: 9 Strategic Building Blocks</a:t>
            </a:r>
          </a:p>
        </p:txBody>
      </p:sp>
      <p:sp>
        <p:nvSpPr>
          <p:cNvPr id="5" name="Rounded Rectangle 4"/>
          <p:cNvSpPr/>
          <p:nvPr/>
        </p:nvSpPr>
        <p:spPr>
          <a:xfrm>
            <a:off x="731520" y="1554480"/>
            <a:ext cx="2011680" cy="3108960"/>
          </a:xfrm>
          <a:prstGeom prst="roundRect">
            <a:avLst/>
          </a:prstGeom>
          <a:solidFill>
            <a:srgbClr val="0F172A"/>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91640"/>
            <a:ext cx="1645920" cy="365760"/>
          </a:xfrm>
          <a:prstGeom prst="rect">
            <a:avLst/>
          </a:prstGeom>
          <a:noFill/>
        </p:spPr>
        <p:txBody>
          <a:bodyPr wrap="square">
            <a:spAutoFit/>
          </a:bodyPr>
          <a:lstStyle/>
          <a:p>
            <a:pPr>
              <a:defRPr sz="1300" b="1">
                <a:solidFill>
                  <a:srgbClr val="3B82F6"/>
                </a:solidFill>
              </a:defRPr>
            </a:pPr>
            <a:r>
              <a:t>Key Partners</a:t>
            </a:r>
          </a:p>
        </p:txBody>
      </p:sp>
      <p:sp>
        <p:nvSpPr>
          <p:cNvPr id="7" name="TextBox 6"/>
          <p:cNvSpPr txBox="1"/>
          <p:nvPr/>
        </p:nvSpPr>
        <p:spPr>
          <a:xfrm>
            <a:off x="822960" y="1965960"/>
            <a:ext cx="1828800" cy="2606040"/>
          </a:xfrm>
          <a:prstGeom prst="rect">
            <a:avLst/>
          </a:prstGeom>
          <a:noFill/>
        </p:spPr>
        <p:txBody>
          <a:bodyPr wrap="square">
            <a:spAutoFit/>
          </a:bodyPr>
          <a:lstStyle/>
          <a:p>
            <a:pPr>
              <a:spcAft>
                <a:spcPts val="400"/>
              </a:spcAft>
              <a:defRPr sz="900">
                <a:solidFill>
                  <a:srgbClr val="FFFFFF"/>
                </a:solidFill>
              </a:defRPr>
            </a:pPr>
            <a:r>
              <a:t>• HDFC, ICICI, SBI, Federal Bank</a:t>
            </a:r>
          </a:p>
          <a:p>
            <a:pPr>
              <a:spcAft>
                <a:spcPts val="400"/>
              </a:spcAft>
              <a:defRPr sz="900">
                <a:solidFill>
                  <a:srgbClr val="FFFFFF"/>
                </a:solidFill>
              </a:defRPr>
            </a:pPr>
            <a:r>
              <a:t>• Sahamati AAs (Anumati, Finvu)</a:t>
            </a:r>
          </a:p>
          <a:p>
            <a:pPr>
              <a:spcAft>
                <a:spcPts val="400"/>
              </a:spcAft>
              <a:defRPr sz="900">
                <a:solidFill>
                  <a:srgbClr val="FFFFFF"/>
                </a:solidFill>
              </a:defRPr>
            </a:pPr>
            <a:r>
              <a:t>• AMCs &amp; CDSL/NSDL</a:t>
            </a:r>
          </a:p>
          <a:p>
            <a:pPr>
              <a:spcAft>
                <a:spcPts val="400"/>
              </a:spcAft>
              <a:defRPr sz="900">
                <a:solidFill>
                  <a:srgbClr val="FFFFFF"/>
                </a:solidFill>
              </a:defRPr>
            </a:pPr>
            <a:r>
              <a:t>• SEBI &amp; RBI Auditors</a:t>
            </a:r>
          </a:p>
        </p:txBody>
      </p:sp>
      <p:sp>
        <p:nvSpPr>
          <p:cNvPr id="8" name="Rounded Rectangle 7"/>
          <p:cNvSpPr/>
          <p:nvPr/>
        </p:nvSpPr>
        <p:spPr>
          <a:xfrm>
            <a:off x="2880360" y="1554480"/>
            <a:ext cx="2011680" cy="1508760"/>
          </a:xfrm>
          <a:prstGeom prst="roundRect">
            <a:avLst/>
          </a:prstGeom>
          <a:solidFill>
            <a:srgbClr val="0F172A"/>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63240" y="1691640"/>
            <a:ext cx="1645920" cy="365760"/>
          </a:xfrm>
          <a:prstGeom prst="rect">
            <a:avLst/>
          </a:prstGeom>
          <a:noFill/>
        </p:spPr>
        <p:txBody>
          <a:bodyPr wrap="square">
            <a:spAutoFit/>
          </a:bodyPr>
          <a:lstStyle/>
          <a:p>
            <a:pPr>
              <a:defRPr sz="1300" b="1">
                <a:solidFill>
                  <a:srgbClr val="06B6D4"/>
                </a:solidFill>
              </a:defRPr>
            </a:pPr>
            <a:r>
              <a:t>Key Activities</a:t>
            </a:r>
          </a:p>
        </p:txBody>
      </p:sp>
      <p:sp>
        <p:nvSpPr>
          <p:cNvPr id="10" name="TextBox 9"/>
          <p:cNvSpPr txBox="1"/>
          <p:nvPr/>
        </p:nvSpPr>
        <p:spPr>
          <a:xfrm>
            <a:off x="2971800" y="1920240"/>
            <a:ext cx="1828800" cy="1097280"/>
          </a:xfrm>
          <a:prstGeom prst="rect">
            <a:avLst/>
          </a:prstGeom>
          <a:noFill/>
        </p:spPr>
        <p:txBody>
          <a:bodyPr wrap="square">
            <a:spAutoFit/>
          </a:bodyPr>
          <a:lstStyle/>
          <a:p>
            <a:pPr>
              <a:spcAft>
                <a:spcPts val="200"/>
              </a:spcAft>
              <a:defRPr sz="850">
                <a:solidFill>
                  <a:srgbClr val="FFFFFF"/>
                </a:solidFill>
              </a:defRPr>
            </a:pPr>
            <a:r>
              <a:t>• Algorithmic Modeling</a:t>
            </a:r>
          </a:p>
          <a:p>
            <a:pPr>
              <a:spcAft>
                <a:spcPts val="200"/>
              </a:spcAft>
              <a:defRPr sz="850">
                <a:solidFill>
                  <a:srgbClr val="FFFFFF"/>
                </a:solidFill>
              </a:defRPr>
            </a:pPr>
            <a:r>
              <a:t>• Real-Time AA Reconciliation</a:t>
            </a:r>
          </a:p>
          <a:p>
            <a:pPr>
              <a:spcAft>
                <a:spcPts val="200"/>
              </a:spcAft>
              <a:defRPr sz="850">
                <a:solidFill>
                  <a:srgbClr val="FFFFFF"/>
                </a:solidFill>
              </a:defRPr>
            </a:pPr>
            <a:r>
              <a:t>• Debt Circuit Breakers</a:t>
            </a:r>
          </a:p>
        </p:txBody>
      </p:sp>
      <p:sp>
        <p:nvSpPr>
          <p:cNvPr id="11" name="Rounded Rectangle 10"/>
          <p:cNvSpPr/>
          <p:nvPr/>
        </p:nvSpPr>
        <p:spPr>
          <a:xfrm>
            <a:off x="2880360" y="3154680"/>
            <a:ext cx="2011680" cy="1508760"/>
          </a:xfrm>
          <a:prstGeom prst="roundRect">
            <a:avLst/>
          </a:prstGeom>
          <a:solidFill>
            <a:srgbClr val="0F172A"/>
          </a:solidFill>
          <a:ln w="19050">
            <a:solidFill>
              <a:srgbClr val="EAB3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63240" y="3291840"/>
            <a:ext cx="1645920" cy="365760"/>
          </a:xfrm>
          <a:prstGeom prst="rect">
            <a:avLst/>
          </a:prstGeom>
          <a:noFill/>
        </p:spPr>
        <p:txBody>
          <a:bodyPr wrap="square">
            <a:spAutoFit/>
          </a:bodyPr>
          <a:lstStyle/>
          <a:p>
            <a:pPr>
              <a:defRPr sz="1300" b="1">
                <a:solidFill>
                  <a:srgbClr val="EAB308"/>
                </a:solidFill>
              </a:defRPr>
            </a:pPr>
            <a:r>
              <a:t>Key Resources</a:t>
            </a:r>
          </a:p>
        </p:txBody>
      </p:sp>
      <p:sp>
        <p:nvSpPr>
          <p:cNvPr id="13" name="TextBox 12"/>
          <p:cNvSpPr txBox="1"/>
          <p:nvPr/>
        </p:nvSpPr>
        <p:spPr>
          <a:xfrm>
            <a:off x="2971800" y="3520440"/>
            <a:ext cx="1828800" cy="1097280"/>
          </a:xfrm>
          <a:prstGeom prst="rect">
            <a:avLst/>
          </a:prstGeom>
          <a:noFill/>
        </p:spPr>
        <p:txBody>
          <a:bodyPr wrap="square">
            <a:spAutoFit/>
          </a:bodyPr>
          <a:lstStyle/>
          <a:p>
            <a:pPr>
              <a:spcAft>
                <a:spcPts val="200"/>
              </a:spcAft>
              <a:defRPr sz="850">
                <a:solidFill>
                  <a:srgbClr val="FFFFFF"/>
                </a:solidFill>
              </a:defRPr>
            </a:pPr>
            <a:r>
              <a:t>• Proprietary Math IP</a:t>
            </a:r>
          </a:p>
          <a:p>
            <a:pPr>
              <a:spcAft>
                <a:spcPts val="200"/>
              </a:spcAft>
              <a:defRPr sz="850">
                <a:solidFill>
                  <a:srgbClr val="FFFFFF"/>
                </a:solidFill>
              </a:defRPr>
            </a:pPr>
            <a:r>
              <a:t>• Sovereign Local DB</a:t>
            </a:r>
          </a:p>
          <a:p>
            <a:pPr>
              <a:spcAft>
                <a:spcPts val="200"/>
              </a:spcAft>
              <a:defRPr sz="850">
                <a:solidFill>
                  <a:srgbClr val="FFFFFF"/>
                </a:solidFill>
              </a:defRPr>
            </a:pPr>
            <a:r>
              <a:t>• RBI Banking Gateways</a:t>
            </a:r>
          </a:p>
        </p:txBody>
      </p:sp>
      <p:sp>
        <p:nvSpPr>
          <p:cNvPr id="14" name="Rounded Rectangle 13"/>
          <p:cNvSpPr/>
          <p:nvPr/>
        </p:nvSpPr>
        <p:spPr>
          <a:xfrm>
            <a:off x="5029200" y="1554480"/>
            <a:ext cx="2103120" cy="3108960"/>
          </a:xfrm>
          <a:prstGeom prst="roundRect">
            <a:avLst/>
          </a:prstGeom>
          <a:solidFill>
            <a:srgbClr val="0F172A"/>
          </a:solidFill>
          <a:ln w="19050">
            <a:solidFill>
              <a:srgbClr val="EAB3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1691640"/>
            <a:ext cx="1737360" cy="365760"/>
          </a:xfrm>
          <a:prstGeom prst="rect">
            <a:avLst/>
          </a:prstGeom>
          <a:noFill/>
        </p:spPr>
        <p:txBody>
          <a:bodyPr wrap="square">
            <a:spAutoFit/>
          </a:bodyPr>
          <a:lstStyle/>
          <a:p>
            <a:pPr>
              <a:defRPr sz="1300" b="1">
                <a:solidFill>
                  <a:srgbClr val="EAB308"/>
                </a:solidFill>
              </a:defRPr>
            </a:pPr>
            <a:r>
              <a:t>Value Propositions</a:t>
            </a:r>
          </a:p>
        </p:txBody>
      </p:sp>
      <p:sp>
        <p:nvSpPr>
          <p:cNvPr id="16" name="TextBox 15"/>
          <p:cNvSpPr txBox="1"/>
          <p:nvPr/>
        </p:nvSpPr>
        <p:spPr>
          <a:xfrm>
            <a:off x="5120640" y="1965960"/>
            <a:ext cx="1920240" cy="2606040"/>
          </a:xfrm>
          <a:prstGeom prst="rect">
            <a:avLst/>
          </a:prstGeom>
          <a:noFill/>
        </p:spPr>
        <p:txBody>
          <a:bodyPr wrap="square">
            <a:spAutoFit/>
          </a:bodyPr>
          <a:lstStyle/>
          <a:p>
            <a:pPr>
              <a:spcAft>
                <a:spcPts val="400"/>
              </a:spcAft>
              <a:defRPr sz="900">
                <a:solidFill>
                  <a:srgbClr val="FFFFFF"/>
                </a:solidFill>
              </a:defRPr>
            </a:pPr>
            <a:r>
              <a:t>• 100% Fiduciary Truth</a:t>
            </a:r>
          </a:p>
          <a:p>
            <a:pPr>
              <a:spcAft>
                <a:spcPts val="400"/>
              </a:spcAft>
              <a:defRPr sz="900">
                <a:solidFill>
                  <a:srgbClr val="FFFFFF"/>
                </a:solidFill>
              </a:defRPr>
            </a:pPr>
            <a:r>
              <a:t>• Zero Lender Kickbacks</a:t>
            </a:r>
          </a:p>
          <a:p>
            <a:pPr>
              <a:spcAft>
                <a:spcPts val="400"/>
              </a:spcAft>
              <a:defRPr sz="900">
                <a:solidFill>
                  <a:srgbClr val="FFFFFF"/>
                </a:solidFill>
              </a:defRPr>
            </a:pPr>
            <a:r>
              <a:t>• Consolidated Balance Sheet</a:t>
            </a:r>
          </a:p>
          <a:p>
            <a:pPr>
              <a:spcAft>
                <a:spcPts val="400"/>
              </a:spcAft>
              <a:defRPr sz="900">
                <a:solidFill>
                  <a:srgbClr val="FFFFFF"/>
                </a:solidFill>
              </a:defRPr>
            </a:pPr>
            <a:r>
              <a:t>• Active Debt Ceiling Alerts</a:t>
            </a:r>
          </a:p>
          <a:p>
            <a:pPr>
              <a:spcAft>
                <a:spcPts val="400"/>
              </a:spcAft>
              <a:defRPr sz="900">
                <a:solidFill>
                  <a:srgbClr val="FFFFFF"/>
                </a:solidFill>
              </a:defRPr>
            </a:pPr>
            <a:r>
              <a:t>• Simple/Compound Simulators</a:t>
            </a:r>
          </a:p>
        </p:txBody>
      </p:sp>
      <p:sp>
        <p:nvSpPr>
          <p:cNvPr id="17" name="Rounded Rectangle 16"/>
          <p:cNvSpPr/>
          <p:nvPr/>
        </p:nvSpPr>
        <p:spPr>
          <a:xfrm>
            <a:off x="7269480" y="1554480"/>
            <a:ext cx="2011680" cy="1508760"/>
          </a:xfrm>
          <a:prstGeom prst="roundRect">
            <a:avLst/>
          </a:prstGeom>
          <a:solidFill>
            <a:srgbClr val="0F172A"/>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1691640"/>
            <a:ext cx="1645920" cy="365760"/>
          </a:xfrm>
          <a:prstGeom prst="rect">
            <a:avLst/>
          </a:prstGeom>
          <a:noFill/>
        </p:spPr>
        <p:txBody>
          <a:bodyPr wrap="square">
            <a:spAutoFit/>
          </a:bodyPr>
          <a:lstStyle/>
          <a:p>
            <a:pPr>
              <a:defRPr sz="1300" b="1">
                <a:solidFill>
                  <a:srgbClr val="3B82F6"/>
                </a:solidFill>
              </a:defRPr>
            </a:pPr>
            <a:r>
              <a:t>Customer Rel.</a:t>
            </a:r>
          </a:p>
        </p:txBody>
      </p:sp>
      <p:sp>
        <p:nvSpPr>
          <p:cNvPr id="19" name="TextBox 18"/>
          <p:cNvSpPr txBox="1"/>
          <p:nvPr/>
        </p:nvSpPr>
        <p:spPr>
          <a:xfrm>
            <a:off x="7360920" y="1920240"/>
            <a:ext cx="1828800" cy="1097280"/>
          </a:xfrm>
          <a:prstGeom prst="rect">
            <a:avLst/>
          </a:prstGeom>
          <a:noFill/>
        </p:spPr>
        <p:txBody>
          <a:bodyPr wrap="square">
            <a:spAutoFit/>
          </a:bodyPr>
          <a:lstStyle/>
          <a:p>
            <a:pPr>
              <a:spcAft>
                <a:spcPts val="200"/>
              </a:spcAft>
              <a:defRPr sz="850">
                <a:solidFill>
                  <a:srgbClr val="FFFFFF"/>
                </a:solidFill>
              </a:defRPr>
            </a:pPr>
            <a:r>
              <a:t>• Automated Self-Service</a:t>
            </a:r>
          </a:p>
          <a:p>
            <a:pPr>
              <a:spcAft>
                <a:spcPts val="200"/>
              </a:spcAft>
              <a:defRPr sz="850">
                <a:solidFill>
                  <a:srgbClr val="FFFFFF"/>
                </a:solidFill>
              </a:defRPr>
            </a:pPr>
            <a:r>
              <a:t>• Proactive Risk Alerts</a:t>
            </a:r>
          </a:p>
          <a:p>
            <a:pPr>
              <a:spcAft>
                <a:spcPts val="200"/>
              </a:spcAft>
              <a:defRPr sz="850">
                <a:solidFill>
                  <a:srgbClr val="FFFFFF"/>
                </a:solidFill>
              </a:defRPr>
            </a:pPr>
            <a:r>
              <a:t>• High-Trust Fiduciary Bond</a:t>
            </a:r>
          </a:p>
        </p:txBody>
      </p:sp>
      <p:sp>
        <p:nvSpPr>
          <p:cNvPr id="20" name="Rounded Rectangle 19"/>
          <p:cNvSpPr/>
          <p:nvPr/>
        </p:nvSpPr>
        <p:spPr>
          <a:xfrm>
            <a:off x="7269480" y="3154680"/>
            <a:ext cx="2011680" cy="1508760"/>
          </a:xfrm>
          <a:prstGeom prst="roundRect">
            <a:avLst/>
          </a:prstGeom>
          <a:solidFill>
            <a:srgbClr val="0F172A"/>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52360" y="3291840"/>
            <a:ext cx="1645920" cy="365760"/>
          </a:xfrm>
          <a:prstGeom prst="rect">
            <a:avLst/>
          </a:prstGeom>
          <a:noFill/>
        </p:spPr>
        <p:txBody>
          <a:bodyPr wrap="square">
            <a:spAutoFit/>
          </a:bodyPr>
          <a:lstStyle/>
          <a:p>
            <a:pPr>
              <a:defRPr sz="1300" b="1">
                <a:solidFill>
                  <a:srgbClr val="06B6D4"/>
                </a:solidFill>
              </a:defRPr>
            </a:pPr>
            <a:r>
              <a:t>Channels</a:t>
            </a:r>
          </a:p>
        </p:txBody>
      </p:sp>
      <p:sp>
        <p:nvSpPr>
          <p:cNvPr id="22" name="TextBox 21"/>
          <p:cNvSpPr txBox="1"/>
          <p:nvPr/>
        </p:nvSpPr>
        <p:spPr>
          <a:xfrm>
            <a:off x="7360920" y="3520440"/>
            <a:ext cx="1828800" cy="1097280"/>
          </a:xfrm>
          <a:prstGeom prst="rect">
            <a:avLst/>
          </a:prstGeom>
          <a:noFill/>
        </p:spPr>
        <p:txBody>
          <a:bodyPr wrap="square">
            <a:spAutoFit/>
          </a:bodyPr>
          <a:lstStyle/>
          <a:p>
            <a:pPr>
              <a:spcAft>
                <a:spcPts val="200"/>
              </a:spcAft>
              <a:defRPr sz="850">
                <a:solidFill>
                  <a:srgbClr val="FFFFFF"/>
                </a:solidFill>
              </a:defRPr>
            </a:pPr>
            <a:r>
              <a:t>• Direct Web Application</a:t>
            </a:r>
          </a:p>
          <a:p>
            <a:pPr>
              <a:spcAft>
                <a:spcPts val="200"/>
              </a:spcAft>
              <a:defRPr sz="850">
                <a:solidFill>
                  <a:srgbClr val="FFFFFF"/>
                </a:solidFill>
              </a:defRPr>
            </a:pPr>
            <a:r>
              <a:t>• RBI Account Aggregator</a:t>
            </a:r>
          </a:p>
          <a:p>
            <a:pPr>
              <a:spcAft>
                <a:spcPts val="200"/>
              </a:spcAft>
              <a:defRPr sz="850">
                <a:solidFill>
                  <a:srgbClr val="FFFFFF"/>
                </a:solidFill>
              </a:defRPr>
            </a:pPr>
            <a:r>
              <a:t>• B2B Bank Portals &amp; APIs</a:t>
            </a:r>
          </a:p>
        </p:txBody>
      </p:sp>
      <p:sp>
        <p:nvSpPr>
          <p:cNvPr id="23" name="Rounded Rectangle 22"/>
          <p:cNvSpPr/>
          <p:nvPr/>
        </p:nvSpPr>
        <p:spPr>
          <a:xfrm>
            <a:off x="9418320" y="1554480"/>
            <a:ext cx="2011680" cy="310896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01200" y="1691640"/>
            <a:ext cx="1645920" cy="365760"/>
          </a:xfrm>
          <a:prstGeom prst="rect">
            <a:avLst/>
          </a:prstGeom>
          <a:noFill/>
        </p:spPr>
        <p:txBody>
          <a:bodyPr wrap="square">
            <a:spAutoFit/>
          </a:bodyPr>
          <a:lstStyle/>
          <a:p>
            <a:pPr>
              <a:defRPr sz="1300" b="1">
                <a:solidFill>
                  <a:srgbClr val="10B981"/>
                </a:solidFill>
              </a:defRPr>
            </a:pPr>
            <a:r>
              <a:t>Customer Segments</a:t>
            </a:r>
          </a:p>
        </p:txBody>
      </p:sp>
      <p:sp>
        <p:nvSpPr>
          <p:cNvPr id="25" name="TextBox 24"/>
          <p:cNvSpPr txBox="1"/>
          <p:nvPr/>
        </p:nvSpPr>
        <p:spPr>
          <a:xfrm>
            <a:off x="9509760" y="1965960"/>
            <a:ext cx="1828800" cy="2606040"/>
          </a:xfrm>
          <a:prstGeom prst="rect">
            <a:avLst/>
          </a:prstGeom>
          <a:noFill/>
        </p:spPr>
        <p:txBody>
          <a:bodyPr wrap="square">
            <a:spAutoFit/>
          </a:bodyPr>
          <a:lstStyle/>
          <a:p>
            <a:pPr>
              <a:spcAft>
                <a:spcPts val="400"/>
              </a:spcAft>
              <a:defRPr sz="900">
                <a:solidFill>
                  <a:srgbClr val="FFFFFF"/>
                </a:solidFill>
              </a:defRPr>
            </a:pPr>
            <a:r>
              <a:t>• 45M+ Urban Salaried</a:t>
            </a:r>
          </a:p>
          <a:p>
            <a:pPr>
              <a:spcAft>
                <a:spcPts val="400"/>
              </a:spcAft>
              <a:defRPr sz="900">
                <a:solidFill>
                  <a:srgbClr val="FFFFFF"/>
                </a:solidFill>
              </a:defRPr>
            </a:pPr>
            <a:r>
              <a:t>• 120M+ Retail Demat Holders</a:t>
            </a:r>
          </a:p>
          <a:p>
            <a:pPr>
              <a:spcAft>
                <a:spcPts val="400"/>
              </a:spcAft>
              <a:defRPr sz="900">
                <a:solidFill>
                  <a:srgbClr val="FFFFFF"/>
                </a:solidFill>
              </a:defRPr>
            </a:pPr>
            <a:r>
              <a:t>• 15M+ Gig Earners</a:t>
            </a:r>
          </a:p>
          <a:p>
            <a:pPr>
              <a:spcAft>
                <a:spcPts val="400"/>
              </a:spcAft>
              <a:defRPr sz="900">
                <a:solidFill>
                  <a:srgbClr val="FFFFFF"/>
                </a:solidFill>
              </a:defRPr>
            </a:pPr>
            <a:r>
              <a:t>• Regional Banks &amp; NBFCs</a:t>
            </a:r>
          </a:p>
        </p:txBody>
      </p:sp>
      <p:sp>
        <p:nvSpPr>
          <p:cNvPr id="26" name="Rounded Rectangle 25"/>
          <p:cNvSpPr/>
          <p:nvPr/>
        </p:nvSpPr>
        <p:spPr>
          <a:xfrm>
            <a:off x="731520" y="4800600"/>
            <a:ext cx="5212080" cy="1645920"/>
          </a:xfrm>
          <a:prstGeom prst="roundRect">
            <a:avLst/>
          </a:prstGeom>
          <a:solidFill>
            <a:srgbClr val="0F172A"/>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4937760"/>
            <a:ext cx="4846320" cy="365760"/>
          </a:xfrm>
          <a:prstGeom prst="rect">
            <a:avLst/>
          </a:prstGeom>
          <a:noFill/>
        </p:spPr>
        <p:txBody>
          <a:bodyPr wrap="square">
            <a:spAutoFit/>
          </a:bodyPr>
          <a:lstStyle/>
          <a:p>
            <a:pPr>
              <a:defRPr sz="1300" b="1">
                <a:solidFill>
                  <a:srgbClr val="EF4444"/>
                </a:solidFill>
              </a:defRPr>
            </a:pPr>
            <a:r>
              <a:t>Cost Structure (Left Side Drivers)</a:t>
            </a:r>
          </a:p>
        </p:txBody>
      </p:sp>
      <p:sp>
        <p:nvSpPr>
          <p:cNvPr id="28" name="TextBox 27"/>
          <p:cNvSpPr txBox="1"/>
          <p:nvPr/>
        </p:nvSpPr>
        <p:spPr>
          <a:xfrm>
            <a:off x="914400" y="5166360"/>
            <a:ext cx="4846320" cy="1188720"/>
          </a:xfrm>
          <a:prstGeom prst="rect">
            <a:avLst/>
          </a:prstGeom>
          <a:noFill/>
        </p:spPr>
        <p:txBody>
          <a:bodyPr wrap="square">
            <a:spAutoFit/>
          </a:bodyPr>
          <a:lstStyle/>
          <a:p>
            <a:pPr>
              <a:defRPr sz="950">
                <a:solidFill>
                  <a:srgbClr val="FFFFFF"/>
                </a:solidFill>
              </a:defRPr>
            </a:pPr>
            <a:r>
              <a:t>• Fixed: Core development, SEBI RIA/RBI legal licensing, ISO/CERT-In audits.</a:t>
            </a:r>
          </a:p>
          <a:p>
            <a:pPr>
              <a:defRPr sz="950">
                <a:solidFill>
                  <a:srgbClr val="FFFFFF"/>
                </a:solidFill>
              </a:defRPr>
            </a:pPr>
            <a:r>
              <a:t>• Variable: Account Aggregator per-statement pull fees (₹2–₹5), server infrastructure, and strategic B2B acquisition.</a:t>
            </a:r>
          </a:p>
        </p:txBody>
      </p:sp>
      <p:sp>
        <p:nvSpPr>
          <p:cNvPr id="29" name="Rounded Rectangle 28"/>
          <p:cNvSpPr/>
          <p:nvPr/>
        </p:nvSpPr>
        <p:spPr>
          <a:xfrm>
            <a:off x="6217920" y="4800600"/>
            <a:ext cx="5212080" cy="164592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0" y="4937760"/>
            <a:ext cx="4846320" cy="365760"/>
          </a:xfrm>
          <a:prstGeom prst="rect">
            <a:avLst/>
          </a:prstGeom>
          <a:noFill/>
        </p:spPr>
        <p:txBody>
          <a:bodyPr wrap="square">
            <a:spAutoFit/>
          </a:bodyPr>
          <a:lstStyle/>
          <a:p>
            <a:pPr>
              <a:defRPr sz="1300" b="1">
                <a:solidFill>
                  <a:srgbClr val="10B981"/>
                </a:solidFill>
              </a:defRPr>
            </a:pPr>
            <a:r>
              <a:t>Revenue Streams (Right Side Monetization)</a:t>
            </a:r>
          </a:p>
        </p:txBody>
      </p:sp>
      <p:sp>
        <p:nvSpPr>
          <p:cNvPr id="31" name="TextBox 30"/>
          <p:cNvSpPr txBox="1"/>
          <p:nvPr/>
        </p:nvSpPr>
        <p:spPr>
          <a:xfrm>
            <a:off x="6400800" y="5166360"/>
            <a:ext cx="4846320" cy="1188720"/>
          </a:xfrm>
          <a:prstGeom prst="rect">
            <a:avLst/>
          </a:prstGeom>
          <a:noFill/>
        </p:spPr>
        <p:txBody>
          <a:bodyPr wrap="square">
            <a:spAutoFit/>
          </a:bodyPr>
          <a:lstStyle/>
          <a:p>
            <a:pPr>
              <a:defRPr sz="950">
                <a:solidFill>
                  <a:srgbClr val="FFFFFF"/>
                </a:solidFill>
              </a:defRPr>
            </a:pPr>
            <a:r>
              <a:t>• B2C: Guardian Pro Subscriptions (₹149/mo), Utility Convenience Fees (₹2-₹5), and Broking.</a:t>
            </a:r>
          </a:p>
          <a:p>
            <a:pPr>
              <a:defRPr sz="950">
                <a:solidFill>
                  <a:srgbClr val="FFFFFF"/>
                </a:solidFill>
              </a:defRPr>
            </a:pPr>
            <a:r>
              <a:t>• B2B: Merchant MDR, direct mutual fund platform fees, and Debt Capacity API licensing to banks.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EAB308"/>
                </a:solidFill>
              </a:defRPr>
            </a:pPr>
            <a:r>
              <a:t>PART 2: 5-MINUTE INVESTOR PITCH (SLIDE 1 OF 5)</a:t>
            </a:r>
          </a:p>
        </p:txBody>
      </p:sp>
      <p:sp>
        <p:nvSpPr>
          <p:cNvPr id="4" name="TextBox 3"/>
          <p:cNvSpPr txBox="1"/>
          <p:nvPr/>
        </p:nvSpPr>
        <p:spPr>
          <a:xfrm>
            <a:off x="731520" y="658368"/>
            <a:ext cx="10698480" cy="731520"/>
          </a:xfrm>
          <a:prstGeom prst="rect">
            <a:avLst/>
          </a:prstGeom>
          <a:noFill/>
        </p:spPr>
        <p:txBody>
          <a:bodyPr wrap="square">
            <a:spAutoFit/>
          </a:bodyPr>
          <a:lstStyle/>
          <a:p>
            <a:pPr>
              <a:defRPr sz="2300" b="1">
                <a:solidFill>
                  <a:srgbClr val="FFFFFF"/>
                </a:solidFill>
              </a:defRPr>
            </a:pPr>
            <a:r>
              <a:t>The Investor Pitch Hook: Solving India's FinTech Conflict of Interest</a:t>
            </a:r>
          </a:p>
        </p:txBody>
      </p:sp>
      <p:sp>
        <p:nvSpPr>
          <p:cNvPr id="5" name="Rounded Rectangle 4"/>
          <p:cNvSpPr/>
          <p:nvPr/>
        </p:nvSpPr>
        <p:spPr>
          <a:xfrm>
            <a:off x="731520" y="1645920"/>
            <a:ext cx="5120640" cy="4663440"/>
          </a:xfrm>
          <a:prstGeom prst="roundRect">
            <a:avLst/>
          </a:prstGeom>
          <a:solidFill>
            <a:srgbClr val="0F172A"/>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4754880" cy="365760"/>
          </a:xfrm>
          <a:prstGeom prst="rect">
            <a:avLst/>
          </a:prstGeom>
          <a:noFill/>
        </p:spPr>
        <p:txBody>
          <a:bodyPr wrap="square">
            <a:spAutoFit/>
          </a:bodyPr>
          <a:lstStyle/>
          <a:p>
            <a:pPr>
              <a:defRPr sz="1300" b="1">
                <a:solidFill>
                  <a:srgbClr val="EF4444"/>
                </a:solidFill>
              </a:defRPr>
            </a:pPr>
            <a:r>
              <a:t>❌ The Incumbent Conflict of Interest</a:t>
            </a:r>
          </a:p>
        </p:txBody>
      </p:sp>
      <p:sp>
        <p:nvSpPr>
          <p:cNvPr id="7" name="TextBox 6"/>
          <p:cNvSpPr txBox="1"/>
          <p:nvPr/>
        </p:nvSpPr>
        <p:spPr>
          <a:xfrm>
            <a:off x="914400" y="2194560"/>
            <a:ext cx="4754880" cy="3931920"/>
          </a:xfrm>
          <a:prstGeom prst="rect">
            <a:avLst/>
          </a:prstGeom>
          <a:noFill/>
        </p:spPr>
        <p:txBody>
          <a:bodyPr wrap="square">
            <a:spAutoFit/>
          </a:bodyPr>
          <a:lstStyle/>
          <a:p>
            <a:pPr>
              <a:spcAft>
                <a:spcPts val="1200"/>
              </a:spcAft>
              <a:defRPr sz="1100">
                <a:solidFill>
                  <a:srgbClr val="FFFFFF"/>
                </a:solidFill>
              </a:defRPr>
            </a:pPr>
            <a:r>
              <a:t>• The Core Problem: PhonePe, Google Pay, and CRED are transactional 'dumb pipes' that monetize by selling consumer attention to 36% APR predatory lenders.</a:t>
            </a:r>
          </a:p>
          <a:p>
            <a:pPr>
              <a:spcAft>
                <a:spcPts val="1200"/>
              </a:spcAft>
              <a:defRPr sz="1100">
                <a:solidFill>
                  <a:srgbClr val="FFFFFF"/>
                </a:solidFill>
              </a:defRPr>
            </a:pPr>
            <a:r>
              <a:t>• Incentives are Inverted: Payment platforms profit when consumers borrow and over-leverage, not when they save or build wealth.</a:t>
            </a:r>
          </a:p>
          <a:p>
            <a:pPr>
              <a:spcAft>
                <a:spcPts val="1200"/>
              </a:spcAft>
              <a:defRPr sz="1100">
                <a:solidFill>
                  <a:srgbClr val="FFFFFF"/>
                </a:solidFill>
              </a:defRPr>
            </a:pPr>
            <a:r>
              <a:t>• Empirical Evidence: Over 82% of Indians fail basic compounding debt math; unsecured retail loans spiked past ₹1.5 Lakh Crore; retail traders burned ₹1.81 Lakh Crore in F&amp;O.</a:t>
            </a:r>
          </a:p>
        </p:txBody>
      </p:sp>
      <p:sp>
        <p:nvSpPr>
          <p:cNvPr id="8" name="Rounded Rectangle 7"/>
          <p:cNvSpPr/>
          <p:nvPr/>
        </p:nvSpPr>
        <p:spPr>
          <a:xfrm>
            <a:off x="6217920" y="1645920"/>
            <a:ext cx="5212080" cy="466344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783080"/>
            <a:ext cx="4846320" cy="365760"/>
          </a:xfrm>
          <a:prstGeom prst="rect">
            <a:avLst/>
          </a:prstGeom>
          <a:noFill/>
        </p:spPr>
        <p:txBody>
          <a:bodyPr wrap="square">
            <a:spAutoFit/>
          </a:bodyPr>
          <a:lstStyle/>
          <a:p>
            <a:pPr>
              <a:defRPr sz="1300" b="1">
                <a:solidFill>
                  <a:srgbClr val="10B981"/>
                </a:solidFill>
              </a:defRPr>
            </a:pPr>
            <a:r>
              <a:t>✅ The GuardianFi Market Inversion</a:t>
            </a:r>
          </a:p>
        </p:txBody>
      </p:sp>
      <p:sp>
        <p:nvSpPr>
          <p:cNvPr id="10" name="TextBox 9"/>
          <p:cNvSpPr txBox="1"/>
          <p:nvPr/>
        </p:nvSpPr>
        <p:spPr>
          <a:xfrm>
            <a:off x="6400800" y="2194560"/>
            <a:ext cx="4846320" cy="3931920"/>
          </a:xfrm>
          <a:prstGeom prst="rect">
            <a:avLst/>
          </a:prstGeom>
          <a:noFill/>
        </p:spPr>
        <p:txBody>
          <a:bodyPr wrap="square">
            <a:spAutoFit/>
          </a:bodyPr>
          <a:lstStyle/>
          <a:p>
            <a:pPr>
              <a:spcAft>
                <a:spcPts val="1200"/>
              </a:spcAft>
              <a:defRPr sz="1100">
                <a:solidFill>
                  <a:srgbClr val="FFFFFF"/>
                </a:solidFill>
              </a:defRPr>
            </a:pPr>
            <a:r>
              <a:t>• 100% Fiduciary Alignment: We take zero kickbacks from lenders. Trust is our primary product and customer acquisition moat.</a:t>
            </a:r>
          </a:p>
          <a:p>
            <a:pPr>
              <a:spcAft>
                <a:spcPts val="1200"/>
              </a:spcAft>
              <a:defRPr sz="1100">
                <a:solidFill>
                  <a:srgbClr val="FFFFFF"/>
                </a:solidFill>
              </a:defRPr>
            </a:pPr>
            <a:r>
              <a:t>• Autonomous Balance Sheet Defense: Aggregates liquid cash, equities, mutual funds, gold, and debt into one live net worth ledger via RBI Account Aggregator.</a:t>
            </a:r>
          </a:p>
          <a:p>
            <a:pPr>
              <a:spcAft>
                <a:spcPts val="1200"/>
              </a:spcAft>
              <a:defRPr sz="1100">
                <a:solidFill>
                  <a:srgbClr val="FFFFFF"/>
                </a:solidFill>
              </a:defRPr>
            </a:pPr>
            <a:r>
              <a:t>• Active Debt Circuit Breakers: Mathematical borrowing limits prevent toxic loan stacking before execution.</a:t>
            </a:r>
          </a:p>
          <a:p>
            <a:pPr>
              <a:spcAft>
                <a:spcPts val="1200"/>
              </a:spcAft>
              <a:defRPr sz="1100">
                <a:solidFill>
                  <a:srgbClr val="FFFFFF"/>
                </a:solidFill>
              </a:defRPr>
            </a:pPr>
            <a:r>
              <a:t>• Massive Untapped Market: 350M+ digitally transacting Indians are seeking an unbiased financial guardian.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EAB308"/>
                </a:solidFill>
              </a:defRPr>
            </a:pPr>
            <a:r>
              <a:t>PART 2: 5-MINUTE INVESTOR PITCH (SLIDE 2 OF 5)</a:t>
            </a:r>
          </a:p>
        </p:txBody>
      </p:sp>
      <p:sp>
        <p:nvSpPr>
          <p:cNvPr id="4" name="TextBox 3"/>
          <p:cNvSpPr txBox="1"/>
          <p:nvPr/>
        </p:nvSpPr>
        <p:spPr>
          <a:xfrm>
            <a:off x="731520" y="658368"/>
            <a:ext cx="10698480" cy="731520"/>
          </a:xfrm>
          <a:prstGeom prst="rect">
            <a:avLst/>
          </a:prstGeom>
          <a:noFill/>
        </p:spPr>
        <p:txBody>
          <a:bodyPr wrap="square">
            <a:spAutoFit/>
          </a:bodyPr>
          <a:lstStyle/>
          <a:p>
            <a:pPr>
              <a:defRPr sz="2300" b="1">
                <a:solidFill>
                  <a:srgbClr val="FFFFFF"/>
                </a:solidFill>
              </a:defRPr>
            </a:pPr>
            <a:r>
              <a:t>The Product Moat: Mathematical Fiduciary Intelligence</a:t>
            </a:r>
          </a:p>
        </p:txBody>
      </p:sp>
      <p:sp>
        <p:nvSpPr>
          <p:cNvPr id="5" name="Rounded Rectangle 4"/>
          <p:cNvSpPr/>
          <p:nvPr/>
        </p:nvSpPr>
        <p:spPr>
          <a:xfrm>
            <a:off x="731520" y="1645920"/>
            <a:ext cx="5120640" cy="4663440"/>
          </a:xfrm>
          <a:prstGeom prst="roundRect">
            <a:avLst/>
          </a:prstGeom>
          <a:solidFill>
            <a:srgbClr val="0F172A"/>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4754880" cy="365760"/>
          </a:xfrm>
          <a:prstGeom prst="rect">
            <a:avLst/>
          </a:prstGeom>
          <a:noFill/>
        </p:spPr>
        <p:txBody>
          <a:bodyPr wrap="square">
            <a:spAutoFit/>
          </a:bodyPr>
          <a:lstStyle/>
          <a:p>
            <a:pPr>
              <a:defRPr sz="1300" b="1">
                <a:solidFill>
                  <a:srgbClr val="3B82F6"/>
                </a:solidFill>
              </a:defRPr>
            </a:pPr>
            <a:r>
              <a:t>🛡️ Why GuardianFi Cannot Be Displaced</a:t>
            </a:r>
          </a:p>
        </p:txBody>
      </p:sp>
      <p:sp>
        <p:nvSpPr>
          <p:cNvPr id="7" name="TextBox 6"/>
          <p:cNvSpPr txBox="1"/>
          <p:nvPr/>
        </p:nvSpPr>
        <p:spPr>
          <a:xfrm>
            <a:off x="914400" y="2194560"/>
            <a:ext cx="4754880" cy="3931920"/>
          </a:xfrm>
          <a:prstGeom prst="rect">
            <a:avLst/>
          </a:prstGeom>
          <a:noFill/>
        </p:spPr>
        <p:txBody>
          <a:bodyPr wrap="square">
            <a:spAutoFit/>
          </a:bodyPr>
          <a:lstStyle/>
          <a:p>
            <a:pPr>
              <a:spcAft>
                <a:spcPts val="1000"/>
              </a:spcAft>
              <a:defRPr sz="1100">
                <a:solidFill>
                  <a:srgbClr val="FFFFFF"/>
                </a:solidFill>
              </a:defRPr>
            </a:pPr>
            <a:r>
              <a:t>• 1. Dynamic Guardian Trust Score (0-900): CIBIL-style credit &amp; solvency index evaluating DTI, liquidity runway, and savings velocity in real time.</a:t>
            </a:r>
          </a:p>
          <a:p>
            <a:pPr>
              <a:spcAft>
                <a:spcPts val="1000"/>
              </a:spcAft>
              <a:defRPr sz="1100">
                <a:solidFill>
                  <a:srgbClr val="FFFFFF"/>
                </a:solidFill>
              </a:defRPr>
            </a:pPr>
            <a:r>
              <a:t>• 2. Debt Capacity Indicator: Enforces institutional borrowing zones (&lt;20% Pristine, 20-35% Optimal, 35-43% Caution, &gt;43% Critical).</a:t>
            </a:r>
          </a:p>
          <a:p>
            <a:pPr>
              <a:spcAft>
                <a:spcPts val="1000"/>
              </a:spcAft>
              <a:defRPr sz="1100">
                <a:solidFill>
                  <a:srgbClr val="FFFFFF"/>
                </a:solidFill>
              </a:defRPr>
            </a:pPr>
            <a:r>
              <a:t>• 3. Simple &amp; Compound Amortization Simulators: Exposes the compounding interest trap of credit cards and instant loans.</a:t>
            </a:r>
          </a:p>
          <a:p>
            <a:pPr>
              <a:spcAft>
                <a:spcPts val="1000"/>
              </a:spcAft>
              <a:defRPr sz="1100">
                <a:solidFill>
                  <a:srgbClr val="FFFFFF"/>
                </a:solidFill>
              </a:defRPr>
            </a:pPr>
            <a:r>
              <a:t>• 4. Sovereign Privacy: User financial data resides locally with relational auditability. Zero cloud honeypots.</a:t>
            </a:r>
          </a:p>
        </p:txBody>
      </p:sp>
      <p:sp>
        <p:nvSpPr>
          <p:cNvPr id="8" name="Rounded Rectangle 7"/>
          <p:cNvSpPr/>
          <p:nvPr/>
        </p:nvSpPr>
        <p:spPr>
          <a:xfrm>
            <a:off x="6217920" y="1645920"/>
            <a:ext cx="5212080" cy="4663440"/>
          </a:xfrm>
          <a:prstGeom prst="roundRect">
            <a:avLst/>
          </a:prstGeom>
          <a:solidFill>
            <a:srgbClr val="0F172A"/>
          </a:solidFill>
          <a:ln w="19050">
            <a:solidFill>
              <a:srgbClr val="EAB3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783080"/>
            <a:ext cx="4846320" cy="365760"/>
          </a:xfrm>
          <a:prstGeom prst="rect">
            <a:avLst/>
          </a:prstGeom>
          <a:noFill/>
        </p:spPr>
        <p:txBody>
          <a:bodyPr wrap="square">
            <a:spAutoFit/>
          </a:bodyPr>
          <a:lstStyle/>
          <a:p>
            <a:pPr>
              <a:defRPr sz="1300" b="1">
                <a:solidFill>
                  <a:srgbClr val="EAB308"/>
                </a:solidFill>
              </a:defRPr>
            </a:pPr>
            <a:r>
              <a:t>🖥️ Functional Balance Sheet Interface</a:t>
            </a:r>
          </a:p>
        </p:txBody>
      </p:sp>
      <p:pic>
        <p:nvPicPr>
          <p:cNvPr id="10" name="Picture 9" descr="guardian_dashboard_ui_1789057554764.jpg"/>
          <p:cNvPicPr>
            <a:picLocks noChangeAspect="1"/>
          </p:cNvPicPr>
          <p:nvPr/>
        </p:nvPicPr>
        <p:blipFill>
          <a:blip r:embed="rId2"/>
          <a:stretch>
            <a:fillRect/>
          </a:stretch>
        </p:blipFill>
        <p:spPr>
          <a:xfrm>
            <a:off x="6400800" y="2194560"/>
            <a:ext cx="4846320" cy="384048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EAB308"/>
                </a:solidFill>
              </a:defRPr>
            </a:pPr>
            <a:r>
              <a:t>PART 2: 5-MINUTE INVESTOR PITCH (SLIDE 3 OF 5)</a:t>
            </a:r>
          </a:p>
        </p:txBody>
      </p:sp>
      <p:sp>
        <p:nvSpPr>
          <p:cNvPr id="4" name="TextBox 3"/>
          <p:cNvSpPr txBox="1"/>
          <p:nvPr/>
        </p:nvSpPr>
        <p:spPr>
          <a:xfrm>
            <a:off x="731520" y="658368"/>
            <a:ext cx="10698480" cy="731520"/>
          </a:xfrm>
          <a:prstGeom prst="rect">
            <a:avLst/>
          </a:prstGeom>
          <a:noFill/>
        </p:spPr>
        <p:txBody>
          <a:bodyPr wrap="square">
            <a:spAutoFit/>
          </a:bodyPr>
          <a:lstStyle/>
          <a:p>
            <a:pPr>
              <a:defRPr sz="2300" b="1">
                <a:solidFill>
                  <a:srgbClr val="FFFFFF"/>
                </a:solidFill>
              </a:defRPr>
            </a:pPr>
            <a:r>
              <a:t>Market Sizing: Capturing India's $2.1 Trillion FinTech Surge</a:t>
            </a:r>
          </a:p>
        </p:txBody>
      </p:sp>
      <p:sp>
        <p:nvSpPr>
          <p:cNvPr id="5" name="Rounded Rectangle 4"/>
          <p:cNvSpPr/>
          <p:nvPr/>
        </p:nvSpPr>
        <p:spPr>
          <a:xfrm>
            <a:off x="731520" y="1645920"/>
            <a:ext cx="5120640" cy="466344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4754880" cy="365760"/>
          </a:xfrm>
          <a:prstGeom prst="rect">
            <a:avLst/>
          </a:prstGeom>
          <a:noFill/>
        </p:spPr>
        <p:txBody>
          <a:bodyPr wrap="square">
            <a:spAutoFit/>
          </a:bodyPr>
          <a:lstStyle/>
          <a:p>
            <a:pPr>
              <a:defRPr sz="1300" b="1">
                <a:solidFill>
                  <a:srgbClr val="10B981"/>
                </a:solidFill>
              </a:defRPr>
            </a:pPr>
            <a:r>
              <a:t>📊 TAM / SAM / SOM Metrics</a:t>
            </a:r>
          </a:p>
        </p:txBody>
      </p:sp>
      <p:sp>
        <p:nvSpPr>
          <p:cNvPr id="7" name="TextBox 6"/>
          <p:cNvSpPr txBox="1"/>
          <p:nvPr/>
        </p:nvSpPr>
        <p:spPr>
          <a:xfrm>
            <a:off x="914400" y="2194560"/>
            <a:ext cx="4754880" cy="3931920"/>
          </a:xfrm>
          <a:prstGeom prst="rect">
            <a:avLst/>
          </a:prstGeom>
          <a:noFill/>
        </p:spPr>
        <p:txBody>
          <a:bodyPr wrap="square">
            <a:spAutoFit/>
          </a:bodyPr>
          <a:lstStyle/>
          <a:p>
            <a:pPr>
              <a:spcAft>
                <a:spcPts val="1200"/>
              </a:spcAft>
              <a:defRPr sz="1100">
                <a:solidFill>
                  <a:srgbClr val="FFFFFF"/>
                </a:solidFill>
              </a:defRPr>
            </a:pPr>
            <a:r>
              <a:t>• TAM ($2.1 Trillion): Projected Indian FinTech ecosystem size by 2030 (EY/BCG reports) with 900M+ internet users and 14B+ monthly UPI transactions.</a:t>
            </a:r>
          </a:p>
          <a:p>
            <a:pPr>
              <a:spcAft>
                <a:spcPts val="1200"/>
              </a:spcAft>
              <a:defRPr sz="1100">
                <a:solidFill>
                  <a:srgbClr val="FFFFFF"/>
                </a:solidFill>
              </a:defRPr>
            </a:pPr>
            <a:r>
              <a:t>• SAM (120 Million Users): Active credit-card holders, salaried middle-income earners, and retail demat account holders across Tier-1/2 cities.</a:t>
            </a:r>
          </a:p>
          <a:p>
            <a:pPr>
              <a:spcAft>
                <a:spcPts val="1200"/>
              </a:spcAft>
              <a:defRPr sz="1100">
                <a:solidFill>
                  <a:srgbClr val="FFFFFF"/>
                </a:solidFill>
              </a:defRPr>
            </a:pPr>
            <a:r>
              <a:t>• SOM (12 Million Users): Tech-savvy young professionals and retail investors targeted in Years 1–3 ($24 Million ARR potential at 5% paid conversion).</a:t>
            </a:r>
          </a:p>
        </p:txBody>
      </p:sp>
      <p:sp>
        <p:nvSpPr>
          <p:cNvPr id="8" name="Rounded Rectangle 7"/>
          <p:cNvSpPr/>
          <p:nvPr/>
        </p:nvSpPr>
        <p:spPr>
          <a:xfrm>
            <a:off x="6217920" y="1645920"/>
            <a:ext cx="5212080" cy="4663440"/>
          </a:xfrm>
          <a:prstGeom prst="roundRect">
            <a:avLst/>
          </a:prstGeom>
          <a:solidFill>
            <a:srgbClr val="0F172A"/>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783080"/>
            <a:ext cx="4846320" cy="365760"/>
          </a:xfrm>
          <a:prstGeom prst="rect">
            <a:avLst/>
          </a:prstGeom>
          <a:noFill/>
        </p:spPr>
        <p:txBody>
          <a:bodyPr wrap="square">
            <a:spAutoFit/>
          </a:bodyPr>
          <a:lstStyle/>
          <a:p>
            <a:pPr>
              <a:defRPr sz="1300" b="1">
                <a:solidFill>
                  <a:srgbClr val="06B6D4"/>
                </a:solidFill>
              </a:defRPr>
            </a:pPr>
            <a:r>
              <a:t>🚀 Macro Industry Tailwinds</a:t>
            </a:r>
          </a:p>
        </p:txBody>
      </p:sp>
      <p:sp>
        <p:nvSpPr>
          <p:cNvPr id="10" name="TextBox 9"/>
          <p:cNvSpPr txBox="1"/>
          <p:nvPr/>
        </p:nvSpPr>
        <p:spPr>
          <a:xfrm>
            <a:off x="6400800" y="2194560"/>
            <a:ext cx="4846320" cy="3931920"/>
          </a:xfrm>
          <a:prstGeom prst="rect">
            <a:avLst/>
          </a:prstGeom>
          <a:noFill/>
        </p:spPr>
        <p:txBody>
          <a:bodyPr wrap="square">
            <a:spAutoFit/>
          </a:bodyPr>
          <a:lstStyle/>
          <a:p>
            <a:pPr>
              <a:spcAft>
                <a:spcPts val="1200"/>
              </a:spcAft>
              <a:defRPr sz="1100">
                <a:solidFill>
                  <a:srgbClr val="FFFFFF"/>
                </a:solidFill>
              </a:defRPr>
            </a:pPr>
            <a:r>
              <a:t>• Demat Account Surge: Surged from 40M in 2020 to 160M+ today, but retail investors lack automated portfolio risk defense.</a:t>
            </a:r>
          </a:p>
          <a:p>
            <a:pPr>
              <a:spcAft>
                <a:spcPts val="1200"/>
              </a:spcAft>
              <a:defRPr sz="1100">
                <a:solidFill>
                  <a:srgbClr val="FFFFFF"/>
                </a:solidFill>
              </a:defRPr>
            </a:pPr>
            <a:r>
              <a:t>• RBI Account Aggregator Rollout: Mandates open banking statement pulling, eliminating scraping risks.</a:t>
            </a:r>
          </a:p>
          <a:p>
            <a:pPr>
              <a:spcAft>
                <a:spcPts val="1200"/>
              </a:spcAft>
              <a:defRPr sz="1100">
                <a:solidFill>
                  <a:srgbClr val="FFFFFF"/>
                </a:solidFill>
              </a:defRPr>
            </a:pPr>
            <a:r>
              <a:t>• Regulatory Clampdown on Digital Lending: Strict RBI rules against predatory loan stacking create an enormous vacuum for an uncompromised fiduciary guardian.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EAB308"/>
                </a:solidFill>
              </a:defRPr>
            </a:pPr>
            <a:r>
              <a:t>PART 2: 5-MINUTE INVESTOR PITCH (SLIDE 4 OF 5)</a:t>
            </a:r>
          </a:p>
        </p:txBody>
      </p:sp>
      <p:sp>
        <p:nvSpPr>
          <p:cNvPr id="4" name="TextBox 3"/>
          <p:cNvSpPr txBox="1"/>
          <p:nvPr/>
        </p:nvSpPr>
        <p:spPr>
          <a:xfrm>
            <a:off x="731520" y="658368"/>
            <a:ext cx="10698480" cy="731520"/>
          </a:xfrm>
          <a:prstGeom prst="rect">
            <a:avLst/>
          </a:prstGeom>
          <a:noFill/>
        </p:spPr>
        <p:txBody>
          <a:bodyPr wrap="square">
            <a:spAutoFit/>
          </a:bodyPr>
          <a:lstStyle/>
          <a:p>
            <a:pPr>
              <a:defRPr sz="2300" b="1">
                <a:solidFill>
                  <a:srgbClr val="FFFFFF"/>
                </a:solidFill>
              </a:defRPr>
            </a:pPr>
            <a:r>
              <a:t>Revenue Model &amp; Unit Economics: Solving the Free UPI Paradox</a:t>
            </a:r>
          </a:p>
        </p:txBody>
      </p:sp>
      <p:graphicFrame>
        <p:nvGraphicFramePr>
          <p:cNvPr id="5" name="Table 4"/>
          <p:cNvGraphicFramePr>
            <a:graphicFrameLocks noGrp="1"/>
          </p:cNvGraphicFramePr>
          <p:nvPr/>
        </p:nvGraphicFramePr>
        <p:xfrm>
          <a:off x="731520" y="1645920"/>
          <a:ext cx="10698480" cy="4663440"/>
        </p:xfrm>
        <a:graphic>
          <a:graphicData uri="http://schemas.openxmlformats.org/drawingml/2006/table">
            <a:tbl>
              <a:tblPr firstRow="1" bandRow="1">
                <a:tableStyleId>{5C22544A-7EE6-4342-B048-85BDC9FD1C3A}</a:tableStyleId>
              </a:tblPr>
              <a:tblGrid>
                <a:gridCol w="2286000"/>
                <a:gridCol w="3108960"/>
                <a:gridCol w="3200400"/>
                <a:gridCol w="2103120"/>
              </a:tblGrid>
              <a:tr h="777240">
                <a:tc>
                  <a:txBody>
                    <a:bodyPr/>
                    <a:lstStyle/>
                    <a:p>
                      <a:pPr>
                        <a:defRPr b="1" sz="1100">
                          <a:solidFill>
                            <a:srgbClr val="EAB308"/>
                          </a:solidFill>
                        </a:defRPr>
                      </a:pPr>
                      <a:r>
                        <a:t>Segment</a:t>
                      </a:r>
                    </a:p>
                  </a:txBody>
                  <a:tcPr>
                    <a:solidFill>
                      <a:srgbClr val="0F172A"/>
                    </a:solidFill>
                  </a:tcPr>
                </a:tc>
                <a:tc>
                  <a:txBody>
                    <a:bodyPr/>
                    <a:lstStyle/>
                    <a:p>
                      <a:pPr>
                        <a:defRPr b="1" sz="1100">
                          <a:solidFill>
                            <a:srgbClr val="EAB308"/>
                          </a:solidFill>
                        </a:defRPr>
                      </a:pPr>
                      <a:r>
                        <a:t>Service Provided</a:t>
                      </a:r>
                    </a:p>
                  </a:txBody>
                  <a:tcPr>
                    <a:solidFill>
                      <a:srgbClr val="0F172A"/>
                    </a:solidFill>
                  </a:tcPr>
                </a:tc>
                <a:tc>
                  <a:txBody>
                    <a:bodyPr/>
                    <a:lstStyle/>
                    <a:p>
                      <a:pPr>
                        <a:defRPr b="1" sz="1100">
                          <a:solidFill>
                            <a:srgbClr val="EAB308"/>
                          </a:solidFill>
                        </a:defRPr>
                      </a:pPr>
                      <a:r>
                        <a:t>Monetization Mechanism</a:t>
                      </a:r>
                    </a:p>
                  </a:txBody>
                  <a:tcPr>
                    <a:solidFill>
                      <a:srgbClr val="0F172A"/>
                    </a:solidFill>
                  </a:tcPr>
                </a:tc>
                <a:tc>
                  <a:txBody>
                    <a:bodyPr/>
                    <a:lstStyle/>
                    <a:p>
                      <a:pPr>
                        <a:defRPr b="1" sz="1100">
                          <a:solidFill>
                            <a:srgbClr val="EAB308"/>
                          </a:solidFill>
                        </a:defRPr>
                      </a:pPr>
                      <a:r>
                        <a:t>Who Pays?</a:t>
                      </a:r>
                    </a:p>
                  </a:txBody>
                  <a:tcPr>
                    <a:solidFill>
                      <a:srgbClr val="0F172A"/>
                    </a:solidFill>
                  </a:tcPr>
                </a:tc>
              </a:tr>
              <a:tr h="777240">
                <a:tc>
                  <a:txBody>
                    <a:bodyPr/>
                    <a:lstStyle/>
                    <a:p>
                      <a:pPr>
                        <a:defRPr sz="1000">
                          <a:solidFill>
                            <a:srgbClr val="FFFFFF"/>
                          </a:solidFill>
                        </a:defRPr>
                      </a:pPr>
                      <a:r>
                        <a:t>Merchant Services</a:t>
                      </a:r>
                    </a:p>
                  </a:txBody>
                  <a:tcPr>
                    <a:solidFill>
                      <a:srgbClr val="0C1222"/>
                    </a:solidFill>
                  </a:tcPr>
                </a:tc>
                <a:tc>
                  <a:txBody>
                    <a:bodyPr/>
                    <a:lstStyle/>
                    <a:p>
                      <a:pPr>
                        <a:defRPr sz="1000">
                          <a:solidFill>
                            <a:srgbClr val="FFFFFF"/>
                          </a:solidFill>
                        </a:defRPr>
                      </a:pPr>
                      <a:r>
                        <a:t>Payment Gateway &amp; QR Codes</a:t>
                      </a:r>
                    </a:p>
                  </a:txBody>
                  <a:tcPr>
                    <a:solidFill>
                      <a:srgbClr val="0C1222"/>
                    </a:solidFill>
                  </a:tcPr>
                </a:tc>
                <a:tc>
                  <a:txBody>
                    <a:bodyPr/>
                    <a:lstStyle/>
                    <a:p>
                      <a:pPr>
                        <a:defRPr sz="1000">
                          <a:solidFill>
                            <a:srgbClr val="FFFFFF"/>
                          </a:solidFill>
                        </a:defRPr>
                      </a:pPr>
                      <a:r>
                        <a:t>MDR on Credit Cards / Wallets</a:t>
                      </a:r>
                    </a:p>
                  </a:txBody>
                  <a:tcPr>
                    <a:solidFill>
                      <a:srgbClr val="0C1222"/>
                    </a:solidFill>
                  </a:tcPr>
                </a:tc>
                <a:tc>
                  <a:txBody>
                    <a:bodyPr/>
                    <a:lstStyle/>
                    <a:p>
                      <a:pPr>
                        <a:defRPr sz="1000">
                          <a:solidFill>
                            <a:srgbClr val="FFFFFF"/>
                          </a:solidFill>
                        </a:defRPr>
                      </a:pPr>
                      <a:r>
                        <a:t>Merchants</a:t>
                      </a:r>
                    </a:p>
                  </a:txBody>
                  <a:tcPr>
                    <a:solidFill>
                      <a:srgbClr val="0C1222"/>
                    </a:solidFill>
                  </a:tcPr>
                </a:tc>
              </a:tr>
              <a:tr h="777240">
                <a:tc>
                  <a:txBody>
                    <a:bodyPr/>
                    <a:lstStyle/>
                    <a:p>
                      <a:pPr>
                        <a:defRPr sz="1000">
                          <a:solidFill>
                            <a:srgbClr val="FFFFFF"/>
                          </a:solidFill>
                        </a:defRPr>
                      </a:pPr>
                      <a:r>
                        <a:t>Financial Products</a:t>
                      </a:r>
                    </a:p>
                  </a:txBody>
                  <a:tcPr>
                    <a:solidFill>
                      <a:srgbClr val="10182C"/>
                    </a:solidFill>
                  </a:tcPr>
                </a:tc>
                <a:tc>
                  <a:txBody>
                    <a:bodyPr/>
                    <a:lstStyle/>
                    <a:p>
                      <a:pPr>
                        <a:defRPr sz="1000">
                          <a:solidFill>
                            <a:srgbClr val="FFFFFF"/>
                          </a:solidFill>
                        </a:defRPr>
                      </a:pPr>
                      <a:r>
                        <a:t>Certified Direct Mutual Funds &amp; Insurance</a:t>
                      </a:r>
                    </a:p>
                  </a:txBody>
                  <a:tcPr>
                    <a:solidFill>
                      <a:srgbClr val="10182C"/>
                    </a:solidFill>
                  </a:tcPr>
                </a:tc>
                <a:tc>
                  <a:txBody>
                    <a:bodyPr/>
                    <a:lstStyle/>
                    <a:p>
                      <a:pPr>
                        <a:defRPr sz="1000">
                          <a:solidFill>
                            <a:srgbClr val="FFFFFF"/>
                          </a:solidFill>
                        </a:defRPr>
                      </a:pPr>
                      <a:r>
                        <a:t>Distribution &amp; Platform Fees</a:t>
                      </a:r>
                    </a:p>
                  </a:txBody>
                  <a:tcPr>
                    <a:solidFill>
                      <a:srgbClr val="10182C"/>
                    </a:solidFill>
                  </a:tcPr>
                </a:tc>
                <a:tc>
                  <a:txBody>
                    <a:bodyPr/>
                    <a:lstStyle/>
                    <a:p>
                      <a:pPr>
                        <a:defRPr sz="1000">
                          <a:solidFill>
                            <a:srgbClr val="FFFFFF"/>
                          </a:solidFill>
                        </a:defRPr>
                      </a:pPr>
                      <a:r>
                        <a:t>Financial Institutions</a:t>
                      </a:r>
                    </a:p>
                  </a:txBody>
                  <a:tcPr>
                    <a:solidFill>
                      <a:srgbClr val="10182C"/>
                    </a:solidFill>
                  </a:tcPr>
                </a:tc>
              </a:tr>
              <a:tr h="777240">
                <a:tc>
                  <a:txBody>
                    <a:bodyPr/>
                    <a:lstStyle/>
                    <a:p>
                      <a:pPr>
                        <a:defRPr sz="1000">
                          <a:solidFill>
                            <a:srgbClr val="FFFFFF"/>
                          </a:solidFill>
                        </a:defRPr>
                      </a:pPr>
                      <a:r>
                        <a:t>Consumer Platform</a:t>
                      </a:r>
                    </a:p>
                  </a:txBody>
                  <a:tcPr>
                    <a:solidFill>
                      <a:srgbClr val="0C1222"/>
                    </a:solidFill>
                  </a:tcPr>
                </a:tc>
                <a:tc>
                  <a:txBody>
                    <a:bodyPr/>
                    <a:lstStyle/>
                    <a:p>
                      <a:pPr>
                        <a:defRPr sz="1000">
                          <a:solidFill>
                            <a:srgbClr val="FFFFFF"/>
                          </a:solidFill>
                        </a:defRPr>
                      </a:pPr>
                      <a:r>
                        <a:t>Utility Bill Payments &amp; Mobile Recharges</a:t>
                      </a:r>
                    </a:p>
                  </a:txBody>
                  <a:tcPr>
                    <a:solidFill>
                      <a:srgbClr val="0C1222"/>
                    </a:solidFill>
                  </a:tcPr>
                </a:tc>
                <a:tc>
                  <a:txBody>
                    <a:bodyPr/>
                    <a:lstStyle/>
                    <a:p>
                      <a:pPr>
                        <a:defRPr sz="1000">
                          <a:solidFill>
                            <a:srgbClr val="FFFFFF"/>
                          </a:solidFill>
                        </a:defRPr>
                      </a:pPr>
                      <a:r>
                        <a:t>Platform / Convenience Fees (₹2-₹5)</a:t>
                      </a:r>
                    </a:p>
                  </a:txBody>
                  <a:tcPr>
                    <a:solidFill>
                      <a:srgbClr val="0C1222"/>
                    </a:solidFill>
                  </a:tcPr>
                </a:tc>
                <a:tc>
                  <a:txBody>
                    <a:bodyPr/>
                    <a:lstStyle/>
                    <a:p>
                      <a:pPr>
                        <a:defRPr sz="1000">
                          <a:solidFill>
                            <a:srgbClr val="FFFFFF"/>
                          </a:solidFill>
                        </a:defRPr>
                      </a:pPr>
                      <a:r>
                        <a:t>Consumers</a:t>
                      </a:r>
                    </a:p>
                  </a:txBody>
                  <a:tcPr>
                    <a:solidFill>
                      <a:srgbClr val="0C1222"/>
                    </a:solidFill>
                  </a:tcPr>
                </a:tc>
              </a:tr>
              <a:tr h="777240">
                <a:tc>
                  <a:txBody>
                    <a:bodyPr/>
                    <a:lstStyle/>
                    <a:p>
                      <a:pPr>
                        <a:defRPr sz="1000">
                          <a:solidFill>
                            <a:srgbClr val="FFFFFF"/>
                          </a:solidFill>
                        </a:defRPr>
                      </a:pPr>
                      <a:r>
                        <a:t>Curated Advertising</a:t>
                      </a:r>
                    </a:p>
                  </a:txBody>
                  <a:tcPr>
                    <a:solidFill>
                      <a:srgbClr val="10182C"/>
                    </a:solidFill>
                  </a:tcPr>
                </a:tc>
                <a:tc>
                  <a:txBody>
                    <a:bodyPr/>
                    <a:lstStyle/>
                    <a:p>
                      <a:pPr>
                        <a:defRPr sz="1000">
                          <a:solidFill>
                            <a:srgbClr val="FFFFFF"/>
                          </a:solidFill>
                        </a:defRPr>
                      </a:pPr>
                      <a:r>
                        <a:t>Non-Predatory In-App Brand Placements</a:t>
                      </a:r>
                    </a:p>
                  </a:txBody>
                  <a:tcPr>
                    <a:solidFill>
                      <a:srgbClr val="10182C"/>
                    </a:solidFill>
                  </a:tcPr>
                </a:tc>
                <a:tc>
                  <a:txBody>
                    <a:bodyPr/>
                    <a:lstStyle/>
                    <a:p>
                      <a:pPr>
                        <a:defRPr sz="1000">
                          <a:solidFill>
                            <a:srgbClr val="FFFFFF"/>
                          </a:solidFill>
                        </a:defRPr>
                      </a:pPr>
                      <a:r>
                        <a:t>Cost-per-Impression (CPM) / Click</a:t>
                      </a:r>
                    </a:p>
                  </a:txBody>
                  <a:tcPr>
                    <a:solidFill>
                      <a:srgbClr val="10182C"/>
                    </a:solidFill>
                  </a:tcPr>
                </a:tc>
                <a:tc>
                  <a:txBody>
                    <a:bodyPr/>
                    <a:lstStyle/>
                    <a:p>
                      <a:pPr>
                        <a:defRPr sz="1000">
                          <a:solidFill>
                            <a:srgbClr val="FFFFFF"/>
                          </a:solidFill>
                        </a:defRPr>
                      </a:pPr>
                      <a:r>
                        <a:t>Brands &amp; Advertisers</a:t>
                      </a:r>
                    </a:p>
                  </a:txBody>
                  <a:tcPr>
                    <a:solidFill>
                      <a:srgbClr val="10182C"/>
                    </a:solidFill>
                  </a:tcPr>
                </a:tc>
              </a:tr>
              <a:tr h="777240">
                <a:tc>
                  <a:txBody>
                    <a:bodyPr/>
                    <a:lstStyle/>
                    <a:p>
                      <a:pPr>
                        <a:defRPr sz="1000">
                          <a:solidFill>
                            <a:srgbClr val="FFFFFF"/>
                          </a:solidFill>
                        </a:defRPr>
                      </a:pPr>
                      <a:r>
                        <a:t>Wealth Management</a:t>
                      </a:r>
                    </a:p>
                  </a:txBody>
                  <a:tcPr>
                    <a:solidFill>
                      <a:srgbClr val="0C1222"/>
                    </a:solidFill>
                  </a:tcPr>
                </a:tc>
                <a:tc>
                  <a:txBody>
                    <a:bodyPr/>
                    <a:lstStyle/>
                    <a:p>
                      <a:pPr>
                        <a:defRPr sz="1000">
                          <a:solidFill>
                            <a:srgbClr val="FFFFFF"/>
                          </a:solidFill>
                        </a:defRPr>
                      </a:pPr>
                      <a:r>
                        <a:t>Equity Broking (Share.Market) &amp; Pro Sub</a:t>
                      </a:r>
                    </a:p>
                  </a:txBody>
                  <a:tcPr>
                    <a:solidFill>
                      <a:srgbClr val="0C1222"/>
                    </a:solidFill>
                  </a:tcPr>
                </a:tc>
                <a:tc>
                  <a:txBody>
                    <a:bodyPr/>
                    <a:lstStyle/>
                    <a:p>
                      <a:pPr>
                        <a:defRPr sz="1000">
                          <a:solidFill>
                            <a:srgbClr val="FFFFFF"/>
                          </a:solidFill>
                        </a:defRPr>
                      </a:pPr>
                      <a:r>
                        <a:t>Broking Charges &amp; ₹149/mo Subscription</a:t>
                      </a:r>
                    </a:p>
                  </a:txBody>
                  <a:tcPr>
                    <a:solidFill>
                      <a:srgbClr val="0C1222"/>
                    </a:solidFill>
                  </a:tcPr>
                </a:tc>
                <a:tc>
                  <a:txBody>
                    <a:bodyPr/>
                    <a:lstStyle/>
                    <a:p>
                      <a:pPr>
                        <a:defRPr sz="1000">
                          <a:solidFill>
                            <a:srgbClr val="FFFFFF"/>
                          </a:solidFill>
                        </a:defRPr>
                      </a:pPr>
                      <a:r>
                        <a:t>Investors / Traders</a:t>
                      </a:r>
                    </a:p>
                  </a:txBody>
                  <a:tcPr>
                    <a:solidFill>
                      <a:srgbClr val="0C1222"/>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EAB308"/>
                </a:solidFill>
              </a:defRPr>
            </a:pPr>
            <a:r>
              <a:t>PART 2: 5-MINUTE INVESTOR PITCH (SLIDE 5 OF 5)</a:t>
            </a:r>
          </a:p>
        </p:txBody>
      </p:sp>
      <p:sp>
        <p:nvSpPr>
          <p:cNvPr id="4" name="TextBox 3"/>
          <p:cNvSpPr txBox="1"/>
          <p:nvPr/>
        </p:nvSpPr>
        <p:spPr>
          <a:xfrm>
            <a:off x="731520" y="658368"/>
            <a:ext cx="10698480" cy="731520"/>
          </a:xfrm>
          <a:prstGeom prst="rect">
            <a:avLst/>
          </a:prstGeom>
          <a:noFill/>
        </p:spPr>
        <p:txBody>
          <a:bodyPr wrap="square">
            <a:spAutoFit/>
          </a:bodyPr>
          <a:lstStyle/>
          <a:p>
            <a:pPr>
              <a:defRPr sz="2300" b="1">
                <a:solidFill>
                  <a:srgbClr val="FFFFFF"/>
                </a:solidFill>
              </a:defRPr>
            </a:pPr>
            <a:r>
              <a:t>Execution Roadmap, Funding Ask &amp; Concluding Investor Pitch</a:t>
            </a:r>
          </a:p>
        </p:txBody>
      </p:sp>
      <p:sp>
        <p:nvSpPr>
          <p:cNvPr id="5" name="Rounded Rectangle 4"/>
          <p:cNvSpPr/>
          <p:nvPr/>
        </p:nvSpPr>
        <p:spPr>
          <a:xfrm>
            <a:off x="731520" y="1645920"/>
            <a:ext cx="5120640" cy="4663440"/>
          </a:xfrm>
          <a:prstGeom prst="roundRect">
            <a:avLst/>
          </a:prstGeom>
          <a:solidFill>
            <a:srgbClr val="0F172A"/>
          </a:solidFill>
          <a:ln w="19050">
            <a:solidFill>
              <a:srgbClr val="EAB3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4754880" cy="365760"/>
          </a:xfrm>
          <a:prstGeom prst="rect">
            <a:avLst/>
          </a:prstGeom>
          <a:noFill/>
        </p:spPr>
        <p:txBody>
          <a:bodyPr wrap="square">
            <a:spAutoFit/>
          </a:bodyPr>
          <a:lstStyle/>
          <a:p>
            <a:pPr>
              <a:defRPr sz="1300" b="1">
                <a:solidFill>
                  <a:srgbClr val="EAB308"/>
                </a:solidFill>
              </a:defRPr>
            </a:pPr>
            <a:r>
              <a:t>💼 The Ask: ₹5.00 Crore ($600K)</a:t>
            </a:r>
          </a:p>
        </p:txBody>
      </p:sp>
      <p:sp>
        <p:nvSpPr>
          <p:cNvPr id="7" name="TextBox 6"/>
          <p:cNvSpPr txBox="1"/>
          <p:nvPr/>
        </p:nvSpPr>
        <p:spPr>
          <a:xfrm>
            <a:off x="914400" y="2194560"/>
            <a:ext cx="4754880" cy="3931920"/>
          </a:xfrm>
          <a:prstGeom prst="rect">
            <a:avLst/>
          </a:prstGeom>
          <a:noFill/>
        </p:spPr>
        <p:txBody>
          <a:bodyPr wrap="square">
            <a:spAutoFit/>
          </a:bodyPr>
          <a:lstStyle/>
          <a:p>
            <a:pPr>
              <a:spcAft>
                <a:spcPts val="800"/>
              </a:spcAft>
              <a:defRPr sz="1050">
                <a:solidFill>
                  <a:srgbClr val="FFFFFF"/>
                </a:solidFill>
              </a:defRPr>
            </a:pPr>
            <a:r>
              <a:t>• Seed Round Ask: ₹5.00 Crore ($600,000 USD) at ₹25.00 Crore post-money valuation.</a:t>
            </a:r>
          </a:p>
          <a:p>
            <a:pPr>
              <a:spcAft>
                <a:spcPts val="800"/>
              </a:spcAft>
              <a:defRPr sz="1050">
                <a:solidFill>
                  <a:srgbClr val="FFFFFF"/>
                </a:solidFill>
              </a:defRPr>
            </a:pPr>
            <a:r>
              <a:t>• Capital Allocation:</a:t>
            </a:r>
            <a:br/>
            <a:r>
              <a:t>  • 40% (₹2.0 Cr): Product &amp; Algorithmic Financial Engine</a:t>
            </a:r>
            <a:br/>
            <a:r>
              <a:t>  • 25% (₹1.25 Cr): Regulatory Licensing, SEBI/RBI Legal</a:t>
            </a:r>
            <a:br/>
            <a:r>
              <a:t>  • 20% (₹1.0 Cr): Sovereign Infrastructure &amp; Audits</a:t>
            </a:r>
            <a:br/>
            <a:r>
              <a:t>  • 15% (₹0.75 Cr): Strategic GTM &amp; Bank Partnerships</a:t>
            </a:r>
          </a:p>
          <a:p>
            <a:pPr>
              <a:spcAft>
                <a:spcPts val="800"/>
              </a:spcAft>
              <a:defRPr sz="1050">
                <a:solidFill>
                  <a:srgbClr val="FFFFFF"/>
                </a:solidFill>
              </a:defRPr>
            </a:pPr>
            <a:r>
              <a:t>• 18-Month Runway to Operational Profitability:</a:t>
            </a:r>
            <a:br/>
            <a:r>
              <a:t>  • Month 6: 100k Active Users; AA certified</a:t>
            </a:r>
            <a:br/>
            <a:r>
              <a:t>  • Month 12: 500k Users; ₹3.5 Cr ARR; B2B API pilot</a:t>
            </a:r>
            <a:br/>
            <a:r>
              <a:t>  • Month 18: 2M Users; Unit-Economic Profitability; Series A ready</a:t>
            </a:r>
          </a:p>
        </p:txBody>
      </p:sp>
      <p:sp>
        <p:nvSpPr>
          <p:cNvPr id="8" name="Rounded Rectangle 7"/>
          <p:cNvSpPr/>
          <p:nvPr/>
        </p:nvSpPr>
        <p:spPr>
          <a:xfrm>
            <a:off x="6217920" y="1645920"/>
            <a:ext cx="5212080" cy="466344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783080"/>
            <a:ext cx="4846320" cy="365760"/>
          </a:xfrm>
          <a:prstGeom prst="rect">
            <a:avLst/>
          </a:prstGeom>
          <a:noFill/>
        </p:spPr>
        <p:txBody>
          <a:bodyPr wrap="square">
            <a:spAutoFit/>
          </a:bodyPr>
          <a:lstStyle/>
          <a:p>
            <a:pPr>
              <a:defRPr sz="1300" b="1">
                <a:solidFill>
                  <a:srgbClr val="10B981"/>
                </a:solidFill>
              </a:defRPr>
            </a:pPr>
            <a:r>
              <a:t>🏆 The BIZIGNITE Concluding Pitch</a:t>
            </a:r>
          </a:p>
        </p:txBody>
      </p:sp>
      <p:sp>
        <p:nvSpPr>
          <p:cNvPr id="10" name="TextBox 9"/>
          <p:cNvSpPr txBox="1"/>
          <p:nvPr/>
        </p:nvSpPr>
        <p:spPr>
          <a:xfrm>
            <a:off x="6400800" y="2194560"/>
            <a:ext cx="4846320" cy="3931920"/>
          </a:xfrm>
          <a:prstGeom prst="rect">
            <a:avLst/>
          </a:prstGeom>
          <a:noFill/>
        </p:spPr>
        <p:txBody>
          <a:bodyPr wrap="square">
            <a:spAutoFit/>
          </a:bodyPr>
          <a:lstStyle/>
          <a:p>
            <a:pPr>
              <a:spcAft>
                <a:spcPts val="1200"/>
              </a:spcAft>
              <a:defRPr sz="1300" b="1">
                <a:solidFill>
                  <a:srgbClr val="FFFFFF"/>
                </a:solidFill>
              </a:defRPr>
            </a:pPr>
            <a:r>
              <a:t>GuardianFi is not merely another personal finance app—it is the financial conscience of digital India.</a:t>
            </a:r>
          </a:p>
          <a:p>
            <a:pPr>
              <a:spcAft>
                <a:spcPts val="1400"/>
              </a:spcAft>
              <a:defRPr sz="1050">
                <a:solidFill>
                  <a:srgbClr val="9CA3AF"/>
                </a:solidFill>
              </a:defRPr>
            </a:pPr>
            <a:r>
              <a:t>In the coming decade, Indian consumers will reject platforms that profit by trapping them in debt. They will place their wealth in software that tells them the mathematical truth, defends their disposable income, and accelerates their net worth.</a:t>
            </a:r>
          </a:p>
          <a:p>
            <a:pPr>
              <a:spcAft>
                <a:spcPts val="1200"/>
              </a:spcAft>
              <a:defRPr sz="1300" b="1">
                <a:solidFill>
                  <a:srgbClr val="EAB308"/>
                </a:solidFill>
              </a:defRPr>
            </a:pPr>
            <a:r>
              <a:t>"Your Personal CFO. Your Financial Truth. Your Invisible Shield."</a:t>
            </a:r>
          </a:p>
          <a:p>
            <a:pPr>
              <a:defRPr sz="1100" b="1">
                <a:solidFill>
                  <a:srgbClr val="10B981"/>
                </a:solidFill>
              </a:defRPr>
            </a:pPr>
            <a:r>
              <a:t>Presented by: Kommanapalli Alivelu Manga Tayaru</a:t>
            </a:r>
            <a:br/>
            <a:r>
              <a:t>BIZIGNITE Venture Pitch | Thank you, respected jury!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